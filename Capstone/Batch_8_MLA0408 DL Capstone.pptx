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5" r:id="rId4"/>
    <p:sldId id="279" r:id="rId5"/>
    <p:sldId id="278" r:id="rId6"/>
    <p:sldId id="280" r:id="rId7"/>
    <p:sldId id="261" r:id="rId8"/>
    <p:sldId id="281" r:id="rId9"/>
    <p:sldId id="282" r:id="rId10"/>
    <p:sldId id="283" r:id="rId11"/>
    <p:sldId id="284" r:id="rId12"/>
    <p:sldId id="267" r:id="rId13"/>
    <p:sldId id="289" r:id="rId14"/>
    <p:sldId id="287" r:id="rId15"/>
    <p:sldId id="290" r:id="rId16"/>
    <p:sldId id="288" r:id="rId17"/>
    <p:sldId id="291" r:id="rId18"/>
    <p:sldId id="286"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snapToObjects="1">
      <p:cViewPr varScale="1">
        <p:scale>
          <a:sx n="89" d="100"/>
          <a:sy n="89" d="100"/>
        </p:scale>
        <p:origin x="302"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910" y="1445016"/>
            <a:ext cx="10363200" cy="1470025"/>
          </a:xfrm>
        </p:spPr>
        <p:txBody>
          <a:bodyPr>
            <a:noAutofit/>
          </a:bodyPr>
          <a:lstStyle/>
          <a:p>
            <a:pPr fontAlgn="ctr"/>
            <a:r>
              <a:rPr lang="en-IN" sz="3600" b="1" dirty="0">
                <a:latin typeface="Times New Roman" panose="02020603050405020304" pitchFamily="18" charset="0"/>
                <a:cs typeface="Times New Roman" panose="02020603050405020304" pitchFamily="18" charset="0"/>
              </a:rPr>
              <a:t>Autoencoder-Based Deep Learning Framework for Network Intrusion and Anomaly Detection</a:t>
            </a:r>
          </a:p>
        </p:txBody>
      </p:sp>
      <p:sp>
        <p:nvSpPr>
          <p:cNvPr id="3" name="Subtitle 2"/>
          <p:cNvSpPr>
            <a:spLocks noGrp="1"/>
          </p:cNvSpPr>
          <p:nvPr>
            <p:ph type="subTitle" idx="1"/>
          </p:nvPr>
        </p:nvSpPr>
        <p:spPr>
          <a:xfrm>
            <a:off x="1492469" y="4168431"/>
            <a:ext cx="9013371" cy="2079251"/>
          </a:xfrm>
        </p:spPr>
        <p:txBody>
          <a:bodyPr>
            <a:noAutofit/>
          </a:bodyPr>
          <a:lstStyle/>
          <a:p>
            <a:r>
              <a:rPr sz="2400" b="1" dirty="0">
                <a:solidFill>
                  <a:schemeClr val="accent2"/>
                </a:solidFill>
                <a:latin typeface="Times New Roman" panose="02020603050405020304" pitchFamily="18" charset="0"/>
                <a:cs typeface="Times New Roman" panose="02020603050405020304" pitchFamily="18" charset="0"/>
              </a:rPr>
              <a:t>Presented by: </a:t>
            </a:r>
            <a:endParaRPr lang="en-US" sz="2400" b="1" dirty="0">
              <a:solidFill>
                <a:schemeClr val="accent2"/>
              </a:solidFill>
              <a:latin typeface="Times New Roman" panose="02020603050405020304" pitchFamily="18" charset="0"/>
              <a:cs typeface="Times New Roman" panose="02020603050405020304" pitchFamily="18" charset="0"/>
            </a:endParaRPr>
          </a:p>
          <a:p>
            <a:r>
              <a:rPr lang="en-IN" sz="2400" b="1" dirty="0">
                <a:solidFill>
                  <a:srgbClr val="0070C0"/>
                </a:solidFill>
                <a:latin typeface="Times New Roman" panose="02020603050405020304" pitchFamily="18" charset="0"/>
                <a:cs typeface="Times New Roman" panose="02020603050405020304" pitchFamily="18" charset="0"/>
              </a:rPr>
              <a:t>HARESH KUMAR N L </a:t>
            </a:r>
            <a:r>
              <a:rPr lang="en-IN" sz="2400" b="1" dirty="0">
                <a:solidFill>
                  <a:schemeClr val="accent2"/>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192425009</a:t>
            </a:r>
          </a:p>
          <a:p>
            <a:r>
              <a:rPr lang="en-IN" sz="2400" b="1" dirty="0">
                <a:solidFill>
                  <a:srgbClr val="0070C0"/>
                </a:solidFill>
                <a:latin typeface="Times New Roman" panose="02020603050405020304" pitchFamily="18" charset="0"/>
                <a:cs typeface="Times New Roman" panose="02020603050405020304" pitchFamily="18" charset="0"/>
              </a:rPr>
              <a:t>KUMARAN M</a:t>
            </a:r>
            <a:r>
              <a:rPr lang="en-IN" sz="2400" b="1" dirty="0">
                <a:solidFill>
                  <a:schemeClr val="accent2"/>
                </a:solidFill>
                <a:latin typeface="Times New Roman" panose="02020603050405020304" pitchFamily="18" charset="0"/>
                <a:cs typeface="Times New Roman" panose="02020603050405020304" pitchFamily="18" charset="0"/>
              </a:rPr>
              <a:t> - </a:t>
            </a:r>
            <a:r>
              <a:rPr lang="en-IN" sz="2400" b="1" dirty="0">
                <a:solidFill>
                  <a:srgbClr val="FF0000"/>
                </a:solidFill>
                <a:latin typeface="Times New Roman" panose="02020603050405020304" pitchFamily="18" charset="0"/>
                <a:cs typeface="Times New Roman" panose="02020603050405020304" pitchFamily="18" charset="0"/>
              </a:rPr>
              <a:t>192525022</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4" name="TextBox 3">
            <a:extLst>
              <a:ext uri="{FF2B5EF4-FFF2-40B4-BE49-F238E27FC236}">
                <a16:creationId xmlns:a16="http://schemas.microsoft.com/office/drawing/2014/main" id="{F863E993-DEE3-4481-B822-EA4B1C996A8E}"/>
              </a:ext>
            </a:extLst>
          </p:cNvPr>
          <p:cNvSpPr txBox="1"/>
          <p:nvPr/>
        </p:nvSpPr>
        <p:spPr>
          <a:xfrm>
            <a:off x="0" y="3162591"/>
            <a:ext cx="121920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MLA0408 – Deep Learning </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ABSTRACT</a:t>
            </a:r>
            <a:endParaRPr lang="en-AU" sz="4000" b="1"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74754"/>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79078"/>
            <a:ext cx="1520114" cy="1342884"/>
          </a:xfrm>
          <a:prstGeom prst="rect">
            <a:avLst/>
          </a:prstGeom>
          <a:noFill/>
          <a:ln>
            <a:noFill/>
          </a:ln>
        </p:spPr>
      </p:pic>
      <p:sp>
        <p:nvSpPr>
          <p:cNvPr id="7" name="Rectangle 2">
            <a:extLst>
              <a:ext uri="{FF2B5EF4-FFF2-40B4-BE49-F238E27FC236}">
                <a16:creationId xmlns:a16="http://schemas.microsoft.com/office/drawing/2014/main" id="{3F5620E0-EBA5-456E-851F-19C81EF4A016}"/>
              </a:ext>
            </a:extLst>
          </p:cNvPr>
          <p:cNvSpPr>
            <a:spLocks noGrp="1" noChangeArrowheads="1"/>
          </p:cNvSpPr>
          <p:nvPr>
            <p:ph idx="1"/>
          </p:nvPr>
        </p:nvSpPr>
        <p:spPr bwMode="auto">
          <a:xfrm>
            <a:off x="483476" y="1635016"/>
            <a:ext cx="112250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IN" sz="2400" dirty="0">
                <a:latin typeface="Times New Roman" panose="02020603050405020304" pitchFamily="18" charset="0"/>
                <a:cs typeface="Times New Roman" panose="02020603050405020304" pitchFamily="18" charset="0"/>
              </a:rPr>
              <a:t>The increasing use of computer networks has led to a rise in cyberattacks and malicious activities. Traditional Intrusion Detection Systems mainly depend on predefined rules and known attack patterns, which may fail to detect new and previously unseen attacks. This project proposes a Deep Learning-Based Network Intrusion Detection System using Autoencoders for Anomaly Detection. The Autoencoder learns the normal patterns of network traffic from the given dataset. The network data is first cleaned, normalized, and prepared for model training. The trained model reconstructs the input data and calculates the reconstruction error. A suitable threshold is used to distinguish normal traffic from abnormal traffic. High reconstruction error indicates suspicious or potentially malicious network activity. The system is evaluated using Accuracy, Precision, Recall, F1-Score, and Confusion Matrix. The proposed system aims to provide an effective and intelligent solution for detecting network intrusions and improving overall network security.</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396A8-FDFA-9C79-77C4-007BB91D4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0F36B-F9C7-79F3-F565-98F88D62B674}"/>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PROBLEM STATEMENT</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BC1C2B-8FAE-C4B5-76CB-475F4DA7E79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74754"/>
            <a:ext cx="1135117" cy="1342884"/>
          </a:xfrm>
          <a:prstGeom prst="rect">
            <a:avLst/>
          </a:prstGeom>
          <a:noFill/>
        </p:spPr>
      </p:pic>
      <p:pic>
        <p:nvPicPr>
          <p:cNvPr id="5" name="Picture 4">
            <a:extLst>
              <a:ext uri="{FF2B5EF4-FFF2-40B4-BE49-F238E27FC236}">
                <a16:creationId xmlns:a16="http://schemas.microsoft.com/office/drawing/2014/main" id="{002C9156-21EA-3E36-DD04-B80D520C300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79078"/>
            <a:ext cx="1520114" cy="1342884"/>
          </a:xfrm>
          <a:prstGeom prst="rect">
            <a:avLst/>
          </a:prstGeom>
          <a:noFill/>
          <a:ln>
            <a:noFill/>
          </a:ln>
        </p:spPr>
      </p:pic>
      <p:sp>
        <p:nvSpPr>
          <p:cNvPr id="7" name="Rectangle 2">
            <a:extLst>
              <a:ext uri="{FF2B5EF4-FFF2-40B4-BE49-F238E27FC236}">
                <a16:creationId xmlns:a16="http://schemas.microsoft.com/office/drawing/2014/main" id="{33B15569-023D-4016-D6BC-99D08D55BFE2}"/>
              </a:ext>
            </a:extLst>
          </p:cNvPr>
          <p:cNvSpPr>
            <a:spLocks noGrp="1" noChangeArrowheads="1"/>
          </p:cNvSpPr>
          <p:nvPr>
            <p:ph idx="1"/>
          </p:nvPr>
        </p:nvSpPr>
        <p:spPr bwMode="auto">
          <a:xfrm>
            <a:off x="483476" y="1738533"/>
            <a:ext cx="112250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r>
              <a:rPr lang="en-IN" sz="2400" dirty="0">
                <a:latin typeface="Times New Roman" panose="02020603050405020304" pitchFamily="18" charset="0"/>
                <a:cs typeface="Times New Roman" panose="02020603050405020304" pitchFamily="18" charset="0"/>
              </a:rPr>
              <a:t>The increasing use of computer networks has made them vulnerable to various cyberattacks. </a:t>
            </a:r>
          </a:p>
          <a:p>
            <a:pPr lvl="0" algn="just"/>
            <a:r>
              <a:rPr lang="en-IN" sz="2400" dirty="0">
                <a:latin typeface="Times New Roman" panose="02020603050405020304" pitchFamily="18" charset="0"/>
                <a:cs typeface="Times New Roman" panose="02020603050405020304" pitchFamily="18" charset="0"/>
              </a:rPr>
              <a:t>Traditional Intrusion Detection Systems (IDS) mainly depend on predefined rules and known attack signatures. </a:t>
            </a:r>
          </a:p>
          <a:p>
            <a:pPr lvl="0" algn="just"/>
            <a:r>
              <a:rPr lang="en-IN" sz="2400" dirty="0">
                <a:latin typeface="Times New Roman" panose="02020603050405020304" pitchFamily="18" charset="0"/>
                <a:cs typeface="Times New Roman" panose="02020603050405020304" pitchFamily="18" charset="0"/>
              </a:rPr>
              <a:t>These systems have limited ability to detect new, unknown, and evolving attacks. </a:t>
            </a:r>
          </a:p>
          <a:p>
            <a:pPr lvl="0" algn="just"/>
            <a:r>
              <a:rPr lang="en-IN" sz="2400" dirty="0">
                <a:latin typeface="Times New Roman" panose="02020603050405020304" pitchFamily="18" charset="0"/>
                <a:cs typeface="Times New Roman" panose="02020603050405020304" pitchFamily="18" charset="0"/>
              </a:rPr>
              <a:t>Large volumes of network traffic make manual monitoring difficult and time-consuming. </a:t>
            </a:r>
          </a:p>
          <a:p>
            <a:pPr lvl="0" algn="just"/>
            <a:r>
              <a:rPr lang="en-IN" sz="2400" dirty="0">
                <a:latin typeface="Times New Roman" panose="02020603050405020304" pitchFamily="18" charset="0"/>
                <a:cs typeface="Times New Roman" panose="02020603050405020304" pitchFamily="18" charset="0"/>
              </a:rPr>
              <a:t>Therefore, an intelligent system is required to automatically learn normal network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This project aims to use a Deep Learning-based Autoencoder to identify abnormal network traffic and detect potential intrusions. </a:t>
            </a:r>
          </a:p>
        </p:txBody>
      </p:sp>
    </p:spTree>
    <p:extLst>
      <p:ext uri="{BB962C8B-B14F-4D97-AF65-F5344CB8AC3E}">
        <p14:creationId xmlns:p14="http://schemas.microsoft.com/office/powerpoint/2010/main" val="3358174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BD92-2FED-7692-63CB-803F71884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4ECE7-0DA0-5526-6285-C0AE3058BB71}"/>
              </a:ext>
            </a:extLst>
          </p:cNvPr>
          <p:cNvSpPr>
            <a:spLocks noGrp="1"/>
          </p:cNvSpPr>
          <p:nvPr>
            <p:ph type="title"/>
          </p:nvPr>
        </p:nvSpPr>
        <p:spPr>
          <a:xfrm>
            <a:off x="609600" y="171120"/>
            <a:ext cx="10972800" cy="1468219"/>
          </a:xfrm>
        </p:spPr>
        <p:txBody>
          <a:bodyPr>
            <a:normAutofit/>
          </a:bodyPr>
          <a:lstStyle/>
          <a:p>
            <a:r>
              <a:rPr lang="en-IN" sz="4000" b="1" dirty="0">
                <a:latin typeface="Times New Roman" panose="02020603050405020304" pitchFamily="18" charset="0"/>
                <a:cs typeface="Times New Roman" panose="02020603050405020304" pitchFamily="18" charset="0"/>
              </a:rPr>
              <a:t>EXISTING SYSTEM &amp; PROPOSED SOLUTION</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5424E48-5837-7AA5-F088-2A98689EEA5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74754"/>
            <a:ext cx="1135117" cy="1342884"/>
          </a:xfrm>
          <a:prstGeom prst="rect">
            <a:avLst/>
          </a:prstGeom>
          <a:noFill/>
        </p:spPr>
      </p:pic>
      <p:pic>
        <p:nvPicPr>
          <p:cNvPr id="5" name="Picture 4">
            <a:extLst>
              <a:ext uri="{FF2B5EF4-FFF2-40B4-BE49-F238E27FC236}">
                <a16:creationId xmlns:a16="http://schemas.microsoft.com/office/drawing/2014/main" id="{58793DE2-14EA-5F9B-6AF6-0E143C85340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79078"/>
            <a:ext cx="1520114" cy="1342884"/>
          </a:xfrm>
          <a:prstGeom prst="rect">
            <a:avLst/>
          </a:prstGeom>
          <a:noFill/>
          <a:ln>
            <a:noFill/>
          </a:ln>
        </p:spPr>
      </p:pic>
      <p:sp>
        <p:nvSpPr>
          <p:cNvPr id="7" name="Rectangle 2">
            <a:extLst>
              <a:ext uri="{FF2B5EF4-FFF2-40B4-BE49-F238E27FC236}">
                <a16:creationId xmlns:a16="http://schemas.microsoft.com/office/drawing/2014/main" id="{8AFB9F58-8534-0DF1-3CA0-EA213C57BC82}"/>
              </a:ext>
            </a:extLst>
          </p:cNvPr>
          <p:cNvSpPr>
            <a:spLocks noGrp="1" noChangeArrowheads="1"/>
          </p:cNvSpPr>
          <p:nvPr>
            <p:ph idx="1"/>
          </p:nvPr>
        </p:nvSpPr>
        <p:spPr bwMode="auto">
          <a:xfrm>
            <a:off x="483477" y="1516934"/>
            <a:ext cx="5612523" cy="4967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buNone/>
            </a:pPr>
            <a:r>
              <a:rPr lang="en-IN" sz="2400" b="1" dirty="0">
                <a:latin typeface="Times New Roman" panose="02020603050405020304" pitchFamily="18" charset="0"/>
                <a:cs typeface="Times New Roman" panose="02020603050405020304" pitchFamily="18" charset="0"/>
              </a:rPr>
              <a:t>Existing System</a:t>
            </a:r>
          </a:p>
          <a:p>
            <a:pPr lvl="0"/>
            <a:r>
              <a:rPr lang="en-IN" sz="2400" dirty="0">
                <a:latin typeface="Times New Roman" panose="02020603050405020304" pitchFamily="18" charset="0"/>
                <a:cs typeface="Times New Roman" panose="02020603050405020304" pitchFamily="18" charset="0"/>
              </a:rPr>
              <a:t>Relies on predefined rules and attack signatures. </a:t>
            </a:r>
          </a:p>
          <a:p>
            <a:pPr lvl="0"/>
            <a:r>
              <a:rPr lang="en-IN" sz="2400" dirty="0">
                <a:latin typeface="Times New Roman" panose="02020603050405020304" pitchFamily="18" charset="0"/>
                <a:cs typeface="Times New Roman" panose="02020603050405020304" pitchFamily="18" charset="0"/>
              </a:rPr>
              <a:t>Mainly detects known attacks. </a:t>
            </a:r>
          </a:p>
          <a:p>
            <a:pPr lvl="0"/>
            <a:r>
              <a:rPr lang="en-IN" sz="2400" dirty="0">
                <a:latin typeface="Times New Roman" panose="02020603050405020304" pitchFamily="18" charset="0"/>
                <a:cs typeface="Times New Roman" panose="02020603050405020304" pitchFamily="18" charset="0"/>
              </a:rPr>
              <a:t>Requires frequent rule and signature updates. </a:t>
            </a:r>
          </a:p>
          <a:p>
            <a:pPr lvl="0"/>
            <a:r>
              <a:rPr lang="en-IN" sz="2400" dirty="0">
                <a:latin typeface="Times New Roman" panose="02020603050405020304" pitchFamily="18" charset="0"/>
                <a:cs typeface="Times New Roman" panose="02020603050405020304" pitchFamily="18" charset="0"/>
              </a:rPr>
              <a:t>Has limited ability to detect new and evolving threats. </a:t>
            </a:r>
          </a:p>
          <a:p>
            <a:pPr lvl="0"/>
            <a:r>
              <a:rPr lang="en-IN" sz="2400" dirty="0">
                <a:latin typeface="Times New Roman" panose="02020603050405020304" pitchFamily="18" charset="0"/>
                <a:cs typeface="Times New Roman" panose="02020603050405020304" pitchFamily="18" charset="0"/>
              </a:rPr>
              <a:t>Manual monitoring of large network traffic is time-consuming. </a:t>
            </a:r>
          </a:p>
          <a:p>
            <a:pPr lvl="0"/>
            <a:r>
              <a:rPr lang="en-IN" sz="2400" dirty="0">
                <a:latin typeface="Times New Roman" panose="02020603050405020304" pitchFamily="18" charset="0"/>
                <a:cs typeface="Times New Roman" panose="02020603050405020304" pitchFamily="18" charset="0"/>
              </a:rPr>
              <a:t>Provides limited real-time analysis and visualization.</a:t>
            </a:r>
          </a:p>
        </p:txBody>
      </p:sp>
      <p:sp>
        <p:nvSpPr>
          <p:cNvPr id="3" name="TextBox 2">
            <a:extLst>
              <a:ext uri="{FF2B5EF4-FFF2-40B4-BE49-F238E27FC236}">
                <a16:creationId xmlns:a16="http://schemas.microsoft.com/office/drawing/2014/main" id="{3742DB37-7438-6F4C-CAC9-807BA04BCD08}"/>
              </a:ext>
            </a:extLst>
          </p:cNvPr>
          <p:cNvSpPr txBox="1"/>
          <p:nvPr/>
        </p:nvSpPr>
        <p:spPr>
          <a:xfrm>
            <a:off x="6202392" y="1639339"/>
            <a:ext cx="5273615" cy="489364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Proposed Solution</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Uses a Deep Learning-based Autoencoder for intrusion detection.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Learns normal network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automatically.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Detects unknown and anomalous network traffic.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Uses Reconstruction Error (MSE) for anomaly detection.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Automatically determines an Anomaly Threshold for classification.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Provides a real-time dashboard for traffic, threats, and model monitoring.</a:t>
            </a:r>
          </a:p>
        </p:txBody>
      </p:sp>
    </p:spTree>
    <p:extLst>
      <p:ext uri="{BB962C8B-B14F-4D97-AF65-F5344CB8AC3E}">
        <p14:creationId xmlns:p14="http://schemas.microsoft.com/office/powerpoint/2010/main" val="131770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60F1-B0F1-AFB8-018B-876C41730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36384-F87D-714B-6804-2018C613B94C}"/>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LITERATURE REVIEW</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3CD7AB7-9BD5-111D-DCA0-7075B6FFDA2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28E01732-844D-6344-3FEB-0C7F0A499D9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9" name="Picture 8">
            <a:extLst>
              <a:ext uri="{FF2B5EF4-FFF2-40B4-BE49-F238E27FC236}">
                <a16:creationId xmlns:a16="http://schemas.microsoft.com/office/drawing/2014/main" id="{03DCB749-7B17-1041-2F9C-10D33F6D377F}"/>
              </a:ext>
            </a:extLst>
          </p:cNvPr>
          <p:cNvPicPr>
            <a:picLocks noChangeAspect="1"/>
          </p:cNvPicPr>
          <p:nvPr/>
        </p:nvPicPr>
        <p:blipFill>
          <a:blip r:embed="rId4"/>
          <a:srcRect/>
          <a:stretch/>
        </p:blipFill>
        <p:spPr>
          <a:xfrm>
            <a:off x="914400" y="1582658"/>
            <a:ext cx="10118785" cy="5009330"/>
          </a:xfrm>
          <a:prstGeom prst="rect">
            <a:avLst/>
          </a:prstGeom>
        </p:spPr>
      </p:pic>
    </p:spTree>
    <p:extLst>
      <p:ext uri="{BB962C8B-B14F-4D97-AF65-F5344CB8AC3E}">
        <p14:creationId xmlns:p14="http://schemas.microsoft.com/office/powerpoint/2010/main" val="718047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C5EE6-BB95-48E5-46DF-C8190CC4C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89911-CF1A-9B5A-CA94-9958D0D4538A}"/>
              </a:ext>
            </a:extLst>
          </p:cNvPr>
          <p:cNvSpPr>
            <a:spLocks noGrp="1"/>
          </p:cNvSpPr>
          <p:nvPr>
            <p:ph type="title"/>
          </p:nvPr>
        </p:nvSpPr>
        <p:spPr/>
        <p:txBody>
          <a:bodyPr>
            <a:normAutofit/>
          </a:bodyPr>
          <a:lstStyle/>
          <a:p>
            <a:r>
              <a:rPr lang="en-IN" sz="4000" b="1" dirty="0">
                <a:latin typeface="Times New Roman" panose="02020603050405020304" pitchFamily="18" charset="0"/>
                <a:ea typeface="Tahoma" panose="020B0604030504040204" pitchFamily="34" charset="0"/>
                <a:cs typeface="Times New Roman" panose="02020603050405020304" pitchFamily="18" charset="0"/>
              </a:rPr>
              <a:t>TECHNOLOGIES USED</a:t>
            </a:r>
            <a:endParaRPr lang="en-AU" sz="4000" b="1"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B76DE5E-5257-52FA-321B-A96742CD8B6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74754"/>
            <a:ext cx="1135117" cy="1342884"/>
          </a:xfrm>
          <a:prstGeom prst="rect">
            <a:avLst/>
          </a:prstGeom>
          <a:noFill/>
        </p:spPr>
      </p:pic>
      <p:pic>
        <p:nvPicPr>
          <p:cNvPr id="5" name="Picture 4">
            <a:extLst>
              <a:ext uri="{FF2B5EF4-FFF2-40B4-BE49-F238E27FC236}">
                <a16:creationId xmlns:a16="http://schemas.microsoft.com/office/drawing/2014/main" id="{B6A79452-B7D3-792F-1A04-407CBA23A87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79078"/>
            <a:ext cx="1520114" cy="1342884"/>
          </a:xfrm>
          <a:prstGeom prst="rect">
            <a:avLst/>
          </a:prstGeom>
          <a:noFill/>
          <a:ln>
            <a:noFill/>
          </a:ln>
        </p:spPr>
      </p:pic>
      <p:sp>
        <p:nvSpPr>
          <p:cNvPr id="7" name="Rectangle 2">
            <a:extLst>
              <a:ext uri="{FF2B5EF4-FFF2-40B4-BE49-F238E27FC236}">
                <a16:creationId xmlns:a16="http://schemas.microsoft.com/office/drawing/2014/main" id="{7A8C0579-D122-3F77-805B-24B0252D4A0F}"/>
              </a:ext>
            </a:extLst>
          </p:cNvPr>
          <p:cNvSpPr>
            <a:spLocks noGrp="1" noChangeArrowheads="1"/>
          </p:cNvSpPr>
          <p:nvPr>
            <p:ph idx="1"/>
          </p:nvPr>
        </p:nvSpPr>
        <p:spPr bwMode="auto">
          <a:xfrm>
            <a:off x="357352" y="1633991"/>
            <a:ext cx="21217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a:buNone/>
            </a:pPr>
            <a:r>
              <a:rPr lang="en-IN" sz="2400" b="1" dirty="0">
                <a:latin typeface="Times New Roman" panose="02020603050405020304" pitchFamily="18" charset="0"/>
                <a:cs typeface="Times New Roman" panose="02020603050405020304" pitchFamily="18" charset="0"/>
              </a:rPr>
              <a:t>HARDWARE</a:t>
            </a:r>
          </a:p>
        </p:txBody>
      </p:sp>
      <p:graphicFrame>
        <p:nvGraphicFramePr>
          <p:cNvPr id="6" name="Table 5">
            <a:extLst>
              <a:ext uri="{FF2B5EF4-FFF2-40B4-BE49-F238E27FC236}">
                <a16:creationId xmlns:a16="http://schemas.microsoft.com/office/drawing/2014/main" id="{09C536AD-1261-6BAE-1257-3AD6D53EF4B8}"/>
              </a:ext>
            </a:extLst>
          </p:cNvPr>
          <p:cNvGraphicFramePr>
            <a:graphicFrameLocks noGrp="1"/>
          </p:cNvGraphicFramePr>
          <p:nvPr>
            <p:extLst>
              <p:ext uri="{D42A27DB-BD31-4B8C-83A1-F6EECF244321}">
                <p14:modId xmlns:p14="http://schemas.microsoft.com/office/powerpoint/2010/main" val="596106263"/>
              </p:ext>
            </p:extLst>
          </p:nvPr>
        </p:nvGraphicFramePr>
        <p:xfrm>
          <a:off x="2498785" y="1515779"/>
          <a:ext cx="4721524" cy="2194560"/>
        </p:xfrm>
        <a:graphic>
          <a:graphicData uri="http://schemas.openxmlformats.org/drawingml/2006/table">
            <a:tbl>
              <a:tblPr/>
              <a:tblGrid>
                <a:gridCol w="2360762">
                  <a:extLst>
                    <a:ext uri="{9D8B030D-6E8A-4147-A177-3AD203B41FA5}">
                      <a16:colId xmlns:a16="http://schemas.microsoft.com/office/drawing/2014/main" val="155528197"/>
                    </a:ext>
                  </a:extLst>
                </a:gridCol>
                <a:gridCol w="2360762">
                  <a:extLst>
                    <a:ext uri="{9D8B030D-6E8A-4147-A177-3AD203B41FA5}">
                      <a16:colId xmlns:a16="http://schemas.microsoft.com/office/drawing/2014/main" val="1058870662"/>
                    </a:ext>
                  </a:extLst>
                </a:gridCol>
              </a:tblGrid>
              <a:tr h="292790">
                <a:tc>
                  <a:txBody>
                    <a:bodyPr/>
                    <a:lstStyle/>
                    <a:p>
                      <a:pPr algn="ctr">
                        <a:buNone/>
                      </a:pPr>
                      <a:r>
                        <a:rPr lang="en-IN" b="1" dirty="0">
                          <a:latin typeface="Times New Roman" panose="02020603050405020304" pitchFamily="18" charset="0"/>
                          <a:cs typeface="Times New Roman" panose="02020603050405020304" pitchFamily="18"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latin typeface="Times New Roman" panose="02020603050405020304" pitchFamily="18" charset="0"/>
                          <a:cs typeface="Times New Roman" panose="02020603050405020304" pitchFamily="18" charset="0"/>
                        </a:rPr>
                        <a:t>Specification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1219513"/>
                  </a:ext>
                </a:extLst>
              </a:tr>
              <a:tr h="292790">
                <a:tc>
                  <a:txBody>
                    <a:bodyPr/>
                    <a:lstStyle/>
                    <a:p>
                      <a:pPr algn="ctr">
                        <a:buNone/>
                      </a:pPr>
                      <a:r>
                        <a:rPr lang="en-IN" dirty="0">
                          <a:latin typeface="Times New Roman" panose="02020603050405020304" pitchFamily="18" charset="0"/>
                          <a:cs typeface="Times New Roman" panose="02020603050405020304" pitchFamily="18" charset="0"/>
                        </a:rPr>
                        <a:t>Processor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AMD Ryzen 5 7520U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586284"/>
                  </a:ext>
                </a:extLst>
              </a:tr>
              <a:tr h="292790">
                <a:tc>
                  <a:txBody>
                    <a:bodyPr/>
                    <a:lstStyle/>
                    <a:p>
                      <a:pPr algn="ctr">
                        <a:buNone/>
                      </a:pPr>
                      <a:r>
                        <a:rPr lang="en-IN">
                          <a:latin typeface="Times New Roman" panose="02020603050405020304" pitchFamily="18" charset="0"/>
                          <a:cs typeface="Times New Roman" panose="02020603050405020304" pitchFamily="18" charset="0"/>
                        </a:rPr>
                        <a:t>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16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6927816"/>
                  </a:ext>
                </a:extLst>
              </a:tr>
              <a:tr h="292790">
                <a:tc>
                  <a:txBody>
                    <a:bodyPr/>
                    <a:lstStyle/>
                    <a:p>
                      <a:pPr algn="ctr">
                        <a:buNone/>
                      </a:pPr>
                      <a:r>
                        <a:rPr lang="en-IN" dirty="0">
                          <a:latin typeface="Times New Roman" panose="02020603050405020304" pitchFamily="18" charset="0"/>
                          <a:cs typeface="Times New Roman" panose="02020603050405020304" pitchFamily="18" charset="0"/>
                        </a:rPr>
                        <a:t>Graphics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AMD Radeon Graphics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9826147"/>
                  </a:ext>
                </a:extLst>
              </a:tr>
              <a:tr h="292790">
                <a:tc>
                  <a:txBody>
                    <a:bodyPr/>
                    <a:lstStyle/>
                    <a:p>
                      <a:pPr algn="ctr">
                        <a:buNone/>
                      </a:pPr>
                      <a:r>
                        <a:rPr lang="en-IN">
                          <a:latin typeface="Times New Roman" panose="02020603050405020304" pitchFamily="18" charset="0"/>
                          <a:cs typeface="Times New Roman" panose="02020603050405020304" pitchFamily="18" charset="0"/>
                        </a:rPr>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477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6776364"/>
                  </a:ext>
                </a:extLst>
              </a:tr>
              <a:tr h="292790">
                <a:tc>
                  <a:txBody>
                    <a:bodyPr/>
                    <a:lstStyle/>
                    <a:p>
                      <a:pPr algn="ctr">
                        <a:buNone/>
                      </a:pPr>
                      <a:r>
                        <a:rPr lang="en-IN">
                          <a:latin typeface="Times New Roman" panose="02020603050405020304" pitchFamily="18" charset="0"/>
                          <a:cs typeface="Times New Roman" panose="02020603050405020304" pitchFamily="18" charset="0"/>
                        </a:rPr>
                        <a: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Windows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7855135"/>
                  </a:ext>
                </a:extLst>
              </a:tr>
            </a:tbl>
          </a:graphicData>
        </a:graphic>
      </p:graphicFrame>
      <p:graphicFrame>
        <p:nvGraphicFramePr>
          <p:cNvPr id="8" name="Table 7">
            <a:extLst>
              <a:ext uri="{FF2B5EF4-FFF2-40B4-BE49-F238E27FC236}">
                <a16:creationId xmlns:a16="http://schemas.microsoft.com/office/drawing/2014/main" id="{D6459954-4DA0-3B34-E215-6B3841E1403B}"/>
              </a:ext>
            </a:extLst>
          </p:cNvPr>
          <p:cNvGraphicFramePr>
            <a:graphicFrameLocks noGrp="1"/>
          </p:cNvGraphicFramePr>
          <p:nvPr>
            <p:extLst>
              <p:ext uri="{D42A27DB-BD31-4B8C-83A1-F6EECF244321}">
                <p14:modId xmlns:p14="http://schemas.microsoft.com/office/powerpoint/2010/main" val="2750630536"/>
              </p:ext>
            </p:extLst>
          </p:nvPr>
        </p:nvGraphicFramePr>
        <p:xfrm>
          <a:off x="2498785" y="3813276"/>
          <a:ext cx="6469812" cy="2926080"/>
        </p:xfrm>
        <a:graphic>
          <a:graphicData uri="http://schemas.openxmlformats.org/drawingml/2006/table">
            <a:tbl>
              <a:tblPr/>
              <a:tblGrid>
                <a:gridCol w="3234906">
                  <a:extLst>
                    <a:ext uri="{9D8B030D-6E8A-4147-A177-3AD203B41FA5}">
                      <a16:colId xmlns:a16="http://schemas.microsoft.com/office/drawing/2014/main" val="3094325408"/>
                    </a:ext>
                  </a:extLst>
                </a:gridCol>
                <a:gridCol w="3234906">
                  <a:extLst>
                    <a:ext uri="{9D8B030D-6E8A-4147-A177-3AD203B41FA5}">
                      <a16:colId xmlns:a16="http://schemas.microsoft.com/office/drawing/2014/main" val="2096401788"/>
                    </a:ext>
                  </a:extLst>
                </a:gridCol>
              </a:tblGrid>
              <a:tr h="310662">
                <a:tc>
                  <a:txBody>
                    <a:bodyPr/>
                    <a:lstStyle/>
                    <a:p>
                      <a:pPr algn="ctr">
                        <a:buNone/>
                      </a:pPr>
                      <a:r>
                        <a:rPr lang="en-IN" b="1" dirty="0">
                          <a:latin typeface="Times New Roman" panose="02020603050405020304" pitchFamily="18" charset="0"/>
                          <a:cs typeface="Times New Roman" panose="02020603050405020304" pitchFamily="18" charset="0"/>
                        </a:rPr>
                        <a:t>Software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latin typeface="Times New Roman" panose="02020603050405020304" pitchFamily="18" charset="0"/>
                          <a:cs typeface="Times New Roman" panose="02020603050405020304" pitchFamily="18" charset="0"/>
                        </a:rPr>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8711778"/>
                  </a:ext>
                </a:extLst>
              </a:tr>
              <a:tr h="310662">
                <a:tc>
                  <a:txBody>
                    <a:bodyPr/>
                    <a:lstStyle/>
                    <a:p>
                      <a:pPr algn="ctr">
                        <a:buNone/>
                      </a:pPr>
                      <a:r>
                        <a:rPr lang="en-IN" dirty="0">
                          <a:latin typeface="Times New Roman" panose="02020603050405020304" pitchFamily="18" charset="0"/>
                          <a:cs typeface="Times New Roman" panose="02020603050405020304" pitchFamily="18" charset="0"/>
                        </a:rPr>
                        <a:t>Programming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05415"/>
                  </a:ext>
                </a:extLst>
              </a:tr>
              <a:tr h="310662">
                <a:tc>
                  <a:txBody>
                    <a:bodyPr/>
                    <a:lstStyle/>
                    <a:p>
                      <a:pPr algn="ctr">
                        <a:buNone/>
                      </a:pPr>
                      <a:r>
                        <a:rPr lang="en-IN" dirty="0">
                          <a:latin typeface="Times New Roman" panose="02020603050405020304" pitchFamily="18" charset="0"/>
                          <a:cs typeface="Times New Roman" panose="02020603050405020304" pitchFamily="18" charset="0"/>
                        </a:rPr>
                        <a:t>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TensorFlow / </a:t>
                      </a:r>
                      <a:r>
                        <a:rPr lang="en-IN" dirty="0" err="1">
                          <a:latin typeface="Times New Roman" panose="02020603050405020304" pitchFamily="18" charset="0"/>
                          <a:cs typeface="Times New Roman" panose="02020603050405020304" pitchFamily="18" charset="0"/>
                        </a:rPr>
                        <a:t>Keras</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6000808"/>
                  </a:ext>
                </a:extLst>
              </a:tr>
              <a:tr h="310662">
                <a:tc>
                  <a:txBody>
                    <a:bodyPr/>
                    <a:lstStyle/>
                    <a:p>
                      <a:pPr algn="ctr">
                        <a:buNone/>
                      </a:pPr>
                      <a:r>
                        <a:rPr lang="en-IN" dirty="0">
                          <a:latin typeface="Times New Roman" panose="02020603050405020304" pitchFamily="18" charset="0"/>
                          <a:cs typeface="Times New Roman" panose="02020603050405020304" pitchFamily="18" charset="0"/>
                        </a:rPr>
                        <a:t>Data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Pandas, NumPy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8100422"/>
                  </a:ext>
                </a:extLst>
              </a:tr>
              <a:tr h="310662">
                <a:tc>
                  <a:txBody>
                    <a:bodyPr/>
                    <a:lstStyle/>
                    <a:p>
                      <a:pPr algn="ctr">
                        <a:buNone/>
                      </a:pPr>
                      <a:r>
                        <a:rPr lang="en-IN">
                          <a:latin typeface="Times New Roman" panose="02020603050405020304" pitchFamily="18" charset="0"/>
                          <a:cs typeface="Times New Roman" panose="02020603050405020304" pitchFamily="18" charset="0"/>
                        </a:rPr>
                        <a:t>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err="1">
                          <a:latin typeface="Times New Roman" panose="02020603050405020304" pitchFamily="18" charset="0"/>
                          <a:cs typeface="Times New Roman" panose="02020603050405020304" pitchFamily="18" charset="0"/>
                        </a:rPr>
                        <a:t>FastAPI</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2351213"/>
                  </a:ext>
                </a:extLst>
              </a:tr>
              <a:tr h="310662">
                <a:tc>
                  <a:txBody>
                    <a:bodyPr/>
                    <a:lstStyle/>
                    <a:p>
                      <a:pPr algn="ctr">
                        <a:buNone/>
                      </a:pPr>
                      <a:r>
                        <a:rPr lang="en-IN">
                          <a:latin typeface="Times New Roman" panose="02020603050405020304" pitchFamily="18" charset="0"/>
                          <a:cs typeface="Times New Roman" panose="02020603050405020304" pitchFamily="18" charset="0"/>
                        </a:rPr>
                        <a:t>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React.js, TypeScript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9256265"/>
                  </a:ext>
                </a:extLst>
              </a:tr>
              <a:tr h="310662">
                <a:tc>
                  <a:txBody>
                    <a:bodyPr/>
                    <a:lstStyle/>
                    <a:p>
                      <a:pPr algn="ctr">
                        <a:buNone/>
                      </a:pPr>
                      <a:r>
                        <a:rPr lang="en-IN">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NSL-KDD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0777054"/>
                  </a:ext>
                </a:extLst>
              </a:tr>
              <a:tr h="310662">
                <a:tc>
                  <a:txBody>
                    <a:bodyPr/>
                    <a:lstStyle/>
                    <a:p>
                      <a:pPr algn="ctr">
                        <a:buNone/>
                      </a:pPr>
                      <a:r>
                        <a:rPr lang="en-IN">
                          <a:latin typeface="Times New Roman" panose="02020603050405020304" pitchFamily="18" charset="0"/>
                          <a:cs typeface="Times New Roman" panose="02020603050405020304" pitchFamily="18" charset="0"/>
                        </a:rPr>
                        <a:t>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GitHub Pages, Render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7164331"/>
                  </a:ext>
                </a:extLst>
              </a:tr>
            </a:tbl>
          </a:graphicData>
        </a:graphic>
      </p:graphicFrame>
      <p:sp>
        <p:nvSpPr>
          <p:cNvPr id="9" name="TextBox 8">
            <a:extLst>
              <a:ext uri="{FF2B5EF4-FFF2-40B4-BE49-F238E27FC236}">
                <a16:creationId xmlns:a16="http://schemas.microsoft.com/office/drawing/2014/main" id="{E2B24935-0AA3-DE5B-1D89-66556D13B39B}"/>
              </a:ext>
            </a:extLst>
          </p:cNvPr>
          <p:cNvSpPr txBox="1"/>
          <p:nvPr/>
        </p:nvSpPr>
        <p:spPr>
          <a:xfrm>
            <a:off x="210703" y="3875341"/>
            <a:ext cx="192864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SOFTWARE</a:t>
            </a:r>
          </a:p>
        </p:txBody>
      </p:sp>
    </p:spTree>
    <p:extLst>
      <p:ext uri="{BB962C8B-B14F-4D97-AF65-F5344CB8AC3E}">
        <p14:creationId xmlns:p14="http://schemas.microsoft.com/office/powerpoint/2010/main" val="112918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ARCHITECTURE DIAGRAM</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6" name="Picture 5">
            <a:extLst>
              <a:ext uri="{FF2B5EF4-FFF2-40B4-BE49-F238E27FC236}">
                <a16:creationId xmlns:a16="http://schemas.microsoft.com/office/drawing/2014/main" id="{F274569D-5922-298A-7B74-A32F834845E4}"/>
              </a:ext>
            </a:extLst>
          </p:cNvPr>
          <p:cNvPicPr>
            <a:picLocks noChangeAspect="1"/>
          </p:cNvPicPr>
          <p:nvPr/>
        </p:nvPicPr>
        <p:blipFill>
          <a:blip r:embed="rId4"/>
          <a:stretch>
            <a:fillRect/>
          </a:stretch>
        </p:blipFill>
        <p:spPr>
          <a:xfrm>
            <a:off x="1164565" y="1617522"/>
            <a:ext cx="9246147" cy="50851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2C26A-146C-A707-A3A4-E559D0F2D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A24EB-363F-EA05-EED2-292CA21CDCE3}"/>
              </a:ext>
            </a:extLst>
          </p:cNvPr>
          <p:cNvSpPr>
            <a:spLocks noGrp="1"/>
          </p:cNvSpPr>
          <p:nvPr>
            <p:ph type="title"/>
          </p:nvPr>
        </p:nvSpPr>
        <p:spPr/>
        <p:txBody>
          <a:bodyPr>
            <a:normAutofit/>
          </a:bodyPr>
          <a:lstStyle/>
          <a:p>
            <a:r>
              <a:rPr lang="en-GB" sz="4000" b="1" dirty="0">
                <a:solidFill>
                  <a:schemeClr val="accent6">
                    <a:lumMod val="75000"/>
                  </a:schemeClr>
                </a:solidFill>
                <a:latin typeface="Times New Roman" panose="02020603050405020304" pitchFamily="18" charset="0"/>
                <a:cs typeface="Times New Roman" panose="02020603050405020304" pitchFamily="18" charset="0"/>
              </a:rPr>
              <a:t>Module 1</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3F541B-C7BC-BCA6-A674-DB148C11BE5B}"/>
              </a:ext>
            </a:extLst>
          </p:cNvPr>
          <p:cNvSpPr>
            <a:spLocks noGrp="1"/>
          </p:cNvSpPr>
          <p:nvPr>
            <p:ph idx="1"/>
          </p:nvPr>
        </p:nvSpPr>
        <p:spPr>
          <a:xfrm>
            <a:off x="609600" y="1629172"/>
            <a:ext cx="10368951" cy="4954190"/>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Objective</a:t>
            </a:r>
          </a:p>
          <a:p>
            <a:pPr marL="0" indent="0" algn="just">
              <a:buNone/>
            </a:pPr>
            <a:r>
              <a:rPr lang="en-IN" sz="2400" dirty="0">
                <a:latin typeface="Times New Roman" panose="02020603050405020304" pitchFamily="18" charset="0"/>
                <a:cs typeface="Times New Roman" panose="02020603050405020304" pitchFamily="18" charset="0"/>
              </a:rPr>
              <a:t>To collect network traffic data and prepare it for training the Autoencoder model.</a:t>
            </a:r>
          </a:p>
          <a:p>
            <a:pPr marL="0" indent="0" algn="just">
              <a:buNone/>
            </a:pPr>
            <a:r>
              <a:rPr lang="en-IN" sz="2400" b="1" dirty="0">
                <a:latin typeface="Times New Roman" panose="02020603050405020304" pitchFamily="18" charset="0"/>
                <a:cs typeface="Times New Roman" panose="02020603050405020304" pitchFamily="18" charset="0"/>
              </a:rPr>
              <a:t>Activities</a:t>
            </a:r>
          </a:p>
          <a:p>
            <a:pPr lvl="0" algn="just"/>
            <a:r>
              <a:rPr lang="en-IN" sz="2400" dirty="0">
                <a:latin typeface="Times New Roman" panose="02020603050405020304" pitchFamily="18" charset="0"/>
                <a:cs typeface="Times New Roman" panose="02020603050405020304" pitchFamily="18" charset="0"/>
              </a:rPr>
              <a:t>Collect the NSL-KDD network intrusion dataset. </a:t>
            </a:r>
          </a:p>
          <a:p>
            <a:pPr lvl="0" algn="just"/>
            <a:r>
              <a:rPr lang="en-IN" sz="2400" dirty="0">
                <a:latin typeface="Times New Roman" panose="02020603050405020304" pitchFamily="18" charset="0"/>
                <a:cs typeface="Times New Roman" panose="02020603050405020304" pitchFamily="18" charset="0"/>
              </a:rPr>
              <a:t>Identify normal and attack network traffic. </a:t>
            </a:r>
          </a:p>
          <a:p>
            <a:pPr lvl="0" algn="just"/>
            <a:r>
              <a:rPr lang="en-IN" sz="2400" dirty="0">
                <a:latin typeface="Times New Roman" panose="02020603050405020304" pitchFamily="18" charset="0"/>
                <a:cs typeface="Times New Roman" panose="02020603050405020304" pitchFamily="18" charset="0"/>
              </a:rPr>
              <a:t>Handle missing and duplicate data. </a:t>
            </a:r>
          </a:p>
          <a:p>
            <a:pPr lvl="0" algn="just"/>
            <a:r>
              <a:rPr lang="en-IN" sz="2400" dirty="0">
                <a:latin typeface="Times New Roman" panose="02020603050405020304" pitchFamily="18" charset="0"/>
                <a:cs typeface="Times New Roman" panose="02020603050405020304" pitchFamily="18" charset="0"/>
              </a:rPr>
              <a:t>Convert categorical features into numerical values. </a:t>
            </a:r>
          </a:p>
          <a:p>
            <a:pPr lvl="0" algn="just"/>
            <a:r>
              <a:rPr lang="en-IN" sz="2400" dirty="0">
                <a:latin typeface="Times New Roman" panose="02020603050405020304" pitchFamily="18" charset="0"/>
                <a:cs typeface="Times New Roman" panose="02020603050405020304" pitchFamily="18" charset="0"/>
              </a:rPr>
              <a:t>Normalize numerical features using Scikit-learn. </a:t>
            </a:r>
          </a:p>
          <a:p>
            <a:pPr lvl="0" algn="just"/>
            <a:r>
              <a:rPr lang="en-IN" sz="2400" dirty="0">
                <a:latin typeface="Times New Roman" panose="02020603050405020304" pitchFamily="18" charset="0"/>
                <a:cs typeface="Times New Roman" panose="02020603050405020304" pitchFamily="18" charset="0"/>
              </a:rPr>
              <a:t>Select relevant network traffic features. </a:t>
            </a:r>
          </a:p>
          <a:p>
            <a:pPr lvl="0" algn="just"/>
            <a:r>
              <a:rPr lang="en-IN" sz="2400" dirty="0">
                <a:latin typeface="Times New Roman" panose="02020603050405020304" pitchFamily="18" charset="0"/>
                <a:cs typeface="Times New Roman" panose="02020603050405020304" pitchFamily="18" charset="0"/>
              </a:rPr>
              <a:t>Split the dataset into training and testing data. </a:t>
            </a:r>
          </a:p>
          <a:p>
            <a:pPr marL="0" indent="0" algn="just">
              <a:buNone/>
            </a:pPr>
            <a:r>
              <a:rPr lang="en-IN" sz="2400" b="1" dirty="0">
                <a:latin typeface="Times New Roman" panose="02020603050405020304" pitchFamily="18" charset="0"/>
                <a:cs typeface="Times New Roman" panose="02020603050405020304" pitchFamily="18" charset="0"/>
              </a:rPr>
              <a:t>Output: </a:t>
            </a:r>
            <a:r>
              <a:rPr lang="en-IN" sz="2400" dirty="0">
                <a:latin typeface="Times New Roman" panose="02020603050405020304" pitchFamily="18" charset="0"/>
                <a:cs typeface="Times New Roman" panose="02020603050405020304" pitchFamily="18" charset="0"/>
              </a:rPr>
              <a:t>Clean and normalized network dataset ready for Autoencoder training.</a:t>
            </a:r>
          </a:p>
        </p:txBody>
      </p:sp>
      <p:pic>
        <p:nvPicPr>
          <p:cNvPr id="4" name="Picture 3">
            <a:extLst>
              <a:ext uri="{FF2B5EF4-FFF2-40B4-BE49-F238E27FC236}">
                <a16:creationId xmlns:a16="http://schemas.microsoft.com/office/drawing/2014/main" id="{6CE8DAED-620F-50B9-E0AE-50095F75C6B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C245A9F3-FDF5-99A9-810C-6586ACC257E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6" name="TextBox 5">
            <a:extLst>
              <a:ext uri="{FF2B5EF4-FFF2-40B4-BE49-F238E27FC236}">
                <a16:creationId xmlns:a16="http://schemas.microsoft.com/office/drawing/2014/main" id="{3FBC372F-305C-8AE3-3ED7-33D9CABC186F}"/>
              </a:ext>
            </a:extLst>
          </p:cNvPr>
          <p:cNvSpPr txBox="1"/>
          <p:nvPr/>
        </p:nvSpPr>
        <p:spPr>
          <a:xfrm>
            <a:off x="914581" y="1131281"/>
            <a:ext cx="10893792"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DATA COLLECTION AND PREPROCESSING</a:t>
            </a:r>
            <a:endParaRPr lang="en-GB"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0308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E047-BD60-B6E0-FF48-28652ABCE3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83D91-758D-9097-52B3-C8920434530C}"/>
              </a:ext>
            </a:extLst>
          </p:cNvPr>
          <p:cNvSpPr>
            <a:spLocks noGrp="1"/>
          </p:cNvSpPr>
          <p:nvPr>
            <p:ph type="title"/>
          </p:nvPr>
        </p:nvSpPr>
        <p:spPr/>
        <p:txBody>
          <a:bodyPr>
            <a:normAutofit/>
          </a:bodyPr>
          <a:lstStyle/>
          <a:p>
            <a:r>
              <a:rPr lang="en-GB" sz="4000" b="1" dirty="0">
                <a:solidFill>
                  <a:schemeClr val="accent5">
                    <a:lumMod val="75000"/>
                  </a:schemeClr>
                </a:solidFill>
                <a:latin typeface="Times New Roman" panose="02020603050405020304" pitchFamily="18" charset="0"/>
                <a:cs typeface="Times New Roman" panose="02020603050405020304" pitchFamily="18" charset="0"/>
              </a:rPr>
              <a:t>Module 2</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93F50A-63FF-1DF9-09AF-CA702CBC8099}"/>
              </a:ext>
            </a:extLst>
          </p:cNvPr>
          <p:cNvSpPr>
            <a:spLocks noGrp="1"/>
          </p:cNvSpPr>
          <p:nvPr>
            <p:ph idx="1"/>
          </p:nvPr>
        </p:nvSpPr>
        <p:spPr>
          <a:xfrm>
            <a:off x="383628" y="1592946"/>
            <a:ext cx="11080878" cy="4954190"/>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Objective</a:t>
            </a:r>
          </a:p>
          <a:p>
            <a:pPr marL="0" indent="0" algn="just">
              <a:buNone/>
            </a:pPr>
            <a:r>
              <a:rPr lang="en-IN" sz="2400" dirty="0">
                <a:latin typeface="Times New Roman" panose="02020603050405020304" pitchFamily="18" charset="0"/>
                <a:cs typeface="Times New Roman" panose="02020603050405020304" pitchFamily="18" charset="0"/>
              </a:rPr>
              <a:t>To develop and train a Deep Learning Autoencoder that learns the patterns of normal network traffic.</a:t>
            </a:r>
          </a:p>
          <a:p>
            <a:pPr marL="0" indent="0" algn="just">
              <a:buNone/>
            </a:pPr>
            <a:r>
              <a:rPr lang="en-IN" sz="2400" b="1" dirty="0">
                <a:latin typeface="Times New Roman" panose="02020603050405020304" pitchFamily="18" charset="0"/>
                <a:cs typeface="Times New Roman" panose="02020603050405020304" pitchFamily="18" charset="0"/>
              </a:rPr>
              <a:t>Activities</a:t>
            </a:r>
          </a:p>
          <a:p>
            <a:pPr lvl="0" algn="just"/>
            <a:r>
              <a:rPr lang="en-IN" sz="2400" dirty="0">
                <a:latin typeface="Times New Roman" panose="02020603050405020304" pitchFamily="18" charset="0"/>
                <a:cs typeface="Times New Roman" panose="02020603050405020304" pitchFamily="18" charset="0"/>
              </a:rPr>
              <a:t>Design the Autoencoder architecture. </a:t>
            </a:r>
          </a:p>
          <a:p>
            <a:pPr lvl="0" algn="just"/>
            <a:r>
              <a:rPr lang="en-IN" sz="2400" dirty="0">
                <a:latin typeface="Times New Roman" panose="02020603050405020304" pitchFamily="18" charset="0"/>
                <a:cs typeface="Times New Roman" panose="02020603050405020304" pitchFamily="18" charset="0"/>
              </a:rPr>
              <a:t>Use Encoder → Bottleneck → Decoder layers. </a:t>
            </a:r>
          </a:p>
          <a:p>
            <a:pPr lvl="0" algn="just"/>
            <a:r>
              <a:rPr lang="en-IN" sz="2400" dirty="0">
                <a:latin typeface="Times New Roman" panose="02020603050405020304" pitchFamily="18" charset="0"/>
                <a:cs typeface="Times New Roman" panose="02020603050405020304" pitchFamily="18" charset="0"/>
              </a:rPr>
              <a:t>Train the model primarily using normal network traffic. </a:t>
            </a:r>
          </a:p>
          <a:p>
            <a:pPr lvl="0" algn="just"/>
            <a:r>
              <a:rPr lang="en-IN" sz="2400" dirty="0">
                <a:latin typeface="Times New Roman" panose="02020603050405020304" pitchFamily="18" charset="0"/>
                <a:cs typeface="Times New Roman" panose="02020603050405020304" pitchFamily="18" charset="0"/>
              </a:rPr>
              <a:t>Use </a:t>
            </a:r>
            <a:r>
              <a:rPr lang="en-IN" sz="2400" dirty="0" err="1">
                <a:latin typeface="Times New Roman" panose="02020603050405020304" pitchFamily="18" charset="0"/>
                <a:cs typeface="Times New Roman" panose="02020603050405020304" pitchFamily="18" charset="0"/>
              </a:rPr>
              <a:t>ReLU</a:t>
            </a:r>
            <a:r>
              <a:rPr lang="en-IN" sz="2400" dirty="0">
                <a:latin typeface="Times New Roman" panose="02020603050405020304" pitchFamily="18" charset="0"/>
                <a:cs typeface="Times New Roman" panose="02020603050405020304" pitchFamily="18" charset="0"/>
              </a:rPr>
              <a:t> activation in hidden layers. </a:t>
            </a:r>
          </a:p>
          <a:p>
            <a:pPr lvl="0" algn="just"/>
            <a:r>
              <a:rPr lang="en-IN" sz="2400" dirty="0">
                <a:latin typeface="Times New Roman" panose="02020603050405020304" pitchFamily="18" charset="0"/>
                <a:cs typeface="Times New Roman" panose="02020603050405020304" pitchFamily="18" charset="0"/>
              </a:rPr>
              <a:t>Use Adam optimizer for training. </a:t>
            </a:r>
          </a:p>
          <a:p>
            <a:pPr lvl="0" algn="just"/>
            <a:r>
              <a:rPr lang="en-IN" sz="2400" dirty="0">
                <a:latin typeface="Times New Roman" panose="02020603050405020304" pitchFamily="18" charset="0"/>
                <a:cs typeface="Times New Roman" panose="02020603050405020304" pitchFamily="18" charset="0"/>
              </a:rPr>
              <a:t>Use Mean Squared Error (MSE) as the reconstruction loss. </a:t>
            </a:r>
          </a:p>
          <a:p>
            <a:pPr lvl="0" algn="just"/>
            <a:r>
              <a:rPr lang="en-IN" sz="2400" dirty="0">
                <a:latin typeface="Times New Roman" panose="02020603050405020304" pitchFamily="18" charset="0"/>
                <a:cs typeface="Times New Roman" panose="02020603050405020304" pitchFamily="18" charset="0"/>
              </a:rPr>
              <a:t>Save the trained model for future predictions. </a:t>
            </a:r>
          </a:p>
          <a:p>
            <a:pPr marL="0" indent="0" algn="just">
              <a:buNone/>
            </a:pPr>
            <a:r>
              <a:rPr lang="en-IN" sz="2400" b="1" dirty="0">
                <a:latin typeface="Times New Roman" panose="02020603050405020304" pitchFamily="18" charset="0"/>
                <a:cs typeface="Times New Roman" panose="02020603050405020304" pitchFamily="18" charset="0"/>
              </a:rPr>
              <a:t>Output: </a:t>
            </a:r>
            <a:r>
              <a:rPr lang="en-IN" sz="2400" dirty="0">
                <a:latin typeface="Times New Roman" panose="02020603050405020304" pitchFamily="18" charset="0"/>
                <a:cs typeface="Times New Roman" panose="02020603050405020304" pitchFamily="18" charset="0"/>
              </a:rPr>
              <a:t>A trained Autoencoder capable of reconstructing normal network traffic.</a:t>
            </a:r>
          </a:p>
        </p:txBody>
      </p:sp>
      <p:pic>
        <p:nvPicPr>
          <p:cNvPr id="4" name="Picture 3">
            <a:extLst>
              <a:ext uri="{FF2B5EF4-FFF2-40B4-BE49-F238E27FC236}">
                <a16:creationId xmlns:a16="http://schemas.microsoft.com/office/drawing/2014/main" id="{9B3361E9-0716-3E1E-295B-4DA8360E290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7AEDB418-72D1-326C-F079-A4833072247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6" name="TextBox 5">
            <a:extLst>
              <a:ext uri="{FF2B5EF4-FFF2-40B4-BE49-F238E27FC236}">
                <a16:creationId xmlns:a16="http://schemas.microsoft.com/office/drawing/2014/main" id="{84373C3C-0E51-1428-5B1B-CF0463416EC7}"/>
              </a:ext>
            </a:extLst>
          </p:cNvPr>
          <p:cNvSpPr txBox="1"/>
          <p:nvPr/>
        </p:nvSpPr>
        <p:spPr>
          <a:xfrm>
            <a:off x="914581" y="1131281"/>
            <a:ext cx="10893792"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AUTOENCODER MODEL DEVELOPMENT</a:t>
            </a:r>
            <a:endParaRPr lang="en-GB"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2108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0F67-4B9C-3B4D-8131-A9F8846AE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C5515-7058-9C47-197D-66D29670C86F}"/>
              </a:ext>
            </a:extLst>
          </p:cNvPr>
          <p:cNvSpPr>
            <a:spLocks noGrp="1"/>
          </p:cNvSpPr>
          <p:nvPr>
            <p:ph type="title"/>
          </p:nvPr>
        </p:nvSpPr>
        <p:spPr/>
        <p:txBody>
          <a:bodyPr>
            <a:normAutofit/>
          </a:bodyPr>
          <a:lstStyle/>
          <a:p>
            <a:pPr indent="269875">
              <a:lnSpc>
                <a:spcPct val="120000"/>
              </a:lnSpc>
              <a:spcBef>
                <a:spcPts val="600"/>
              </a:spcBef>
            </a:pPr>
            <a:r>
              <a:rPr lang="en-GB" sz="4000" b="1" dirty="0">
                <a:solidFill>
                  <a:schemeClr val="accent4">
                    <a:lumMod val="75000"/>
                  </a:schemeClr>
                </a:solidFill>
                <a:latin typeface="Times New Roman" panose="02020603050405020304" pitchFamily="18" charset="0"/>
                <a:cs typeface="Times New Roman" panose="02020603050405020304" pitchFamily="18" charset="0"/>
              </a:rPr>
              <a:t>Module 3</a:t>
            </a:r>
            <a:endParaRPr lang="en-IN" sz="4000" dirty="0"/>
          </a:p>
        </p:txBody>
      </p:sp>
      <p:sp>
        <p:nvSpPr>
          <p:cNvPr id="3" name="Content Placeholder 2">
            <a:extLst>
              <a:ext uri="{FF2B5EF4-FFF2-40B4-BE49-F238E27FC236}">
                <a16:creationId xmlns:a16="http://schemas.microsoft.com/office/drawing/2014/main" id="{C4DC68A2-CE98-CA24-5E99-ED43B0EA791F}"/>
              </a:ext>
            </a:extLst>
          </p:cNvPr>
          <p:cNvSpPr>
            <a:spLocks noGrp="1"/>
          </p:cNvSpPr>
          <p:nvPr>
            <p:ph idx="1"/>
          </p:nvPr>
        </p:nvSpPr>
        <p:spPr>
          <a:xfrm>
            <a:off x="609600" y="1592946"/>
            <a:ext cx="11130951" cy="4954190"/>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Objective</a:t>
            </a:r>
          </a:p>
          <a:p>
            <a:pPr marL="0" indent="0" algn="just">
              <a:buNone/>
            </a:pPr>
            <a:r>
              <a:rPr lang="en-IN" sz="2400" dirty="0">
                <a:latin typeface="Times New Roman" panose="02020603050405020304" pitchFamily="18" charset="0"/>
                <a:cs typeface="Times New Roman" panose="02020603050405020304" pitchFamily="18" charset="0"/>
              </a:rPr>
              <a:t>To identify abnormal network traffic and evaluate the performance of the trained model.</a:t>
            </a:r>
          </a:p>
          <a:p>
            <a:pPr marL="0" indent="0" algn="just">
              <a:buNone/>
            </a:pPr>
            <a:r>
              <a:rPr lang="en-IN" sz="2400" b="1" dirty="0">
                <a:latin typeface="Times New Roman" panose="02020603050405020304" pitchFamily="18" charset="0"/>
                <a:cs typeface="Times New Roman" panose="02020603050405020304" pitchFamily="18" charset="0"/>
              </a:rPr>
              <a:t>Activities</a:t>
            </a:r>
          </a:p>
          <a:p>
            <a:pPr lvl="0" algn="just"/>
            <a:r>
              <a:rPr lang="en-IN" sz="2400" dirty="0">
                <a:latin typeface="Times New Roman" panose="02020603050405020304" pitchFamily="18" charset="0"/>
                <a:cs typeface="Times New Roman" panose="02020603050405020304" pitchFamily="18" charset="0"/>
              </a:rPr>
              <a:t>Input network traffic into the trained Autoencoder. </a:t>
            </a:r>
          </a:p>
          <a:p>
            <a:pPr lvl="0" algn="just"/>
            <a:r>
              <a:rPr lang="en-IN" sz="2400" dirty="0">
                <a:latin typeface="Times New Roman" panose="02020603050405020304" pitchFamily="18" charset="0"/>
                <a:cs typeface="Times New Roman" panose="02020603050405020304" pitchFamily="18" charset="0"/>
              </a:rPr>
              <a:t>Compare original and reconstructed data. </a:t>
            </a:r>
          </a:p>
          <a:p>
            <a:pPr lvl="0" algn="just"/>
            <a:r>
              <a:rPr lang="en-IN" sz="2400" dirty="0">
                <a:latin typeface="Times New Roman" panose="02020603050405020304" pitchFamily="18" charset="0"/>
                <a:cs typeface="Times New Roman" panose="02020603050405020304" pitchFamily="18" charset="0"/>
              </a:rPr>
              <a:t>Calculate the Reconstruction Error (MSE). </a:t>
            </a:r>
          </a:p>
          <a:p>
            <a:pPr lvl="0" algn="just"/>
            <a:r>
              <a:rPr lang="en-IN" sz="2400" dirty="0">
                <a:latin typeface="Times New Roman" panose="02020603050405020304" pitchFamily="18" charset="0"/>
                <a:cs typeface="Times New Roman" panose="02020603050405020304" pitchFamily="18" charset="0"/>
              </a:rPr>
              <a:t>Calculate an anomaly threshold from normal validation data. </a:t>
            </a:r>
          </a:p>
          <a:p>
            <a:pPr lvl="0" algn="just"/>
            <a:r>
              <a:rPr lang="en-IN" sz="2400" dirty="0">
                <a:latin typeface="Times New Roman" panose="02020603050405020304" pitchFamily="18" charset="0"/>
                <a:cs typeface="Times New Roman" panose="02020603050405020304" pitchFamily="18" charset="0"/>
              </a:rPr>
              <a:t>Classify traffic as Normal or Intrusion. </a:t>
            </a:r>
          </a:p>
          <a:p>
            <a:pPr lvl="0" algn="just"/>
            <a:r>
              <a:rPr lang="en-IN" sz="2400" dirty="0">
                <a:latin typeface="Times New Roman" panose="02020603050405020304" pitchFamily="18" charset="0"/>
                <a:cs typeface="Times New Roman" panose="02020603050405020304" pitchFamily="18" charset="0"/>
              </a:rPr>
              <a:t>Generate a Confusion Matrix. </a:t>
            </a:r>
          </a:p>
          <a:p>
            <a:pPr lvl="0" algn="just"/>
            <a:r>
              <a:rPr lang="en-IN" sz="2400" dirty="0">
                <a:latin typeface="Times New Roman" panose="02020603050405020304" pitchFamily="18" charset="0"/>
                <a:cs typeface="Times New Roman" panose="02020603050405020304" pitchFamily="18" charset="0"/>
              </a:rPr>
              <a:t>Calculate Accuracy, Precision, Recall, F1-Score and ROC-AUC. </a:t>
            </a:r>
          </a:p>
          <a:p>
            <a:pPr marL="0" indent="0" algn="just">
              <a:buNone/>
            </a:pPr>
            <a:r>
              <a:rPr lang="en-IN" sz="2400" b="1" dirty="0">
                <a:latin typeface="Times New Roman" panose="02020603050405020304" pitchFamily="18" charset="0"/>
                <a:cs typeface="Times New Roman" panose="02020603050405020304" pitchFamily="18" charset="0"/>
              </a:rPr>
              <a:t>Output: </a:t>
            </a:r>
            <a:r>
              <a:rPr lang="en-IN" sz="2400" dirty="0">
                <a:latin typeface="Times New Roman" panose="02020603050405020304" pitchFamily="18" charset="0"/>
                <a:cs typeface="Times New Roman" panose="02020603050405020304" pitchFamily="18" charset="0"/>
              </a:rPr>
              <a:t>Detection of suspicious network activities with measured </a:t>
            </a:r>
            <a:r>
              <a:rPr lang="en-IN" sz="2400" dirty="0" err="1">
                <a:latin typeface="Times New Roman" panose="02020603050405020304" pitchFamily="18" charset="0"/>
                <a:cs typeface="Times New Roman" panose="02020603050405020304" pitchFamily="18" charset="0"/>
              </a:rPr>
              <a:t>modelerformance</a:t>
            </a:r>
            <a:r>
              <a:rPr lang="en-IN" sz="2400"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58BA88D9-788A-066F-D279-AC0B5B26CBE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9A915707-A738-AF82-9BFA-F1D0CAE3B6C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6" name="TextBox 5">
            <a:extLst>
              <a:ext uri="{FF2B5EF4-FFF2-40B4-BE49-F238E27FC236}">
                <a16:creationId xmlns:a16="http://schemas.microsoft.com/office/drawing/2014/main" id="{DA97C1AB-0A97-C544-7C14-EECB6AF7FB23}"/>
              </a:ext>
            </a:extLst>
          </p:cNvPr>
          <p:cNvSpPr txBox="1"/>
          <p:nvPr/>
        </p:nvSpPr>
        <p:spPr>
          <a:xfrm>
            <a:off x="556454" y="1107370"/>
            <a:ext cx="10893792" cy="504049"/>
          </a:xfrm>
          <a:prstGeom prst="rect">
            <a:avLst/>
          </a:prstGeom>
          <a:noFill/>
        </p:spPr>
        <p:txBody>
          <a:bodyPr wrap="square" rtlCol="0">
            <a:spAutoFit/>
          </a:bodyPr>
          <a:lstStyle/>
          <a:p>
            <a:pPr indent="269875" algn="ctr">
              <a:lnSpc>
                <a:spcPct val="120000"/>
              </a:lnSpc>
              <a:spcBef>
                <a:spcPts val="600"/>
              </a:spcBef>
            </a:pPr>
            <a:r>
              <a:rPr lang="en-IN" sz="2400" b="1" dirty="0">
                <a:latin typeface="Times New Roman" panose="02020603050405020304" pitchFamily="18" charset="0"/>
                <a:cs typeface="Times New Roman" panose="02020603050405020304" pitchFamily="18" charset="0"/>
              </a:rPr>
              <a:t>ANOMALY DETECTION AND PERFORMANCE EVALUATION</a:t>
            </a:r>
          </a:p>
        </p:txBody>
      </p:sp>
    </p:spTree>
    <p:extLst>
      <p:ext uri="{BB962C8B-B14F-4D97-AF65-F5344CB8AC3E}">
        <p14:creationId xmlns:p14="http://schemas.microsoft.com/office/powerpoint/2010/main" val="592601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B5560-BDD5-6B2D-BC3B-DC2ED9663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00BB7-752D-FC43-D787-C8BE79EB0DE9}"/>
              </a:ext>
            </a:extLst>
          </p:cNvPr>
          <p:cNvSpPr>
            <a:spLocks noGrp="1"/>
          </p:cNvSpPr>
          <p:nvPr>
            <p:ph type="title"/>
          </p:nvPr>
        </p:nvSpPr>
        <p:spPr/>
        <p:txBody>
          <a:bodyPr>
            <a:normAutofit/>
          </a:bodyPr>
          <a:lstStyle/>
          <a:p>
            <a:pPr indent="269875">
              <a:lnSpc>
                <a:spcPct val="120000"/>
              </a:lnSpc>
              <a:spcBef>
                <a:spcPts val="600"/>
              </a:spcBef>
            </a:pPr>
            <a:r>
              <a:rPr lang="en-GB" sz="4000" b="1" dirty="0">
                <a:solidFill>
                  <a:srgbClr val="00B050"/>
                </a:solidFill>
                <a:latin typeface="Times New Roman" panose="02020603050405020304" pitchFamily="18" charset="0"/>
                <a:cs typeface="Times New Roman" panose="02020603050405020304" pitchFamily="18" charset="0"/>
              </a:rPr>
              <a:t>Module 4</a:t>
            </a:r>
            <a:endParaRPr lang="en-GB"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2EC46F-FF4A-2D03-1EAF-BAC16F96C3C4}"/>
              </a:ext>
            </a:extLst>
          </p:cNvPr>
          <p:cNvSpPr>
            <a:spLocks noGrp="1"/>
          </p:cNvSpPr>
          <p:nvPr>
            <p:ph idx="1"/>
          </p:nvPr>
        </p:nvSpPr>
        <p:spPr>
          <a:xfrm>
            <a:off x="293298" y="1592946"/>
            <a:ext cx="11741047" cy="4954190"/>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Objective</a:t>
            </a:r>
          </a:p>
          <a:p>
            <a:pPr marL="0" indent="0" algn="just">
              <a:buNone/>
            </a:pPr>
            <a:r>
              <a:rPr lang="en-IN" sz="2400" dirty="0">
                <a:latin typeface="Times New Roman" panose="02020603050405020304" pitchFamily="18" charset="0"/>
                <a:cs typeface="Times New Roman" panose="02020603050405020304" pitchFamily="18" charset="0"/>
              </a:rPr>
              <a:t>To integrate the trained model with a web-based dashboard for monitoring and visualization.</a:t>
            </a:r>
          </a:p>
          <a:p>
            <a:pPr marL="0" indent="0" algn="just">
              <a:buNone/>
            </a:pPr>
            <a:r>
              <a:rPr lang="en-IN" sz="2400" b="1" dirty="0">
                <a:latin typeface="Times New Roman" panose="02020603050405020304" pitchFamily="18" charset="0"/>
                <a:cs typeface="Times New Roman" panose="02020603050405020304" pitchFamily="18" charset="0"/>
              </a:rPr>
              <a:t>Activities</a:t>
            </a:r>
          </a:p>
          <a:p>
            <a:pPr lvl="0" algn="just"/>
            <a:r>
              <a:rPr lang="en-IN" sz="2400" dirty="0">
                <a:latin typeface="Times New Roman" panose="02020603050405020304" pitchFamily="18" charset="0"/>
                <a:cs typeface="Times New Roman" panose="02020603050405020304" pitchFamily="18" charset="0"/>
              </a:rPr>
              <a:t>Develop the backend using </a:t>
            </a:r>
            <a:r>
              <a:rPr lang="en-IN" sz="2400" dirty="0" err="1">
                <a:latin typeface="Times New Roman" panose="02020603050405020304" pitchFamily="18" charset="0"/>
                <a:cs typeface="Times New Roman" panose="02020603050405020304" pitchFamily="18" charset="0"/>
              </a:rPr>
              <a:t>FastAPI</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Connect the Autoencoder model with the prediction API. </a:t>
            </a:r>
          </a:p>
          <a:p>
            <a:pPr lvl="0" algn="just"/>
            <a:r>
              <a:rPr lang="en-IN" sz="2400" dirty="0">
                <a:latin typeface="Times New Roman" panose="02020603050405020304" pitchFamily="18" charset="0"/>
                <a:cs typeface="Times New Roman" panose="02020603050405020304" pitchFamily="18" charset="0"/>
              </a:rPr>
              <a:t>Develop an interactive dashboard using React and TypeScript. </a:t>
            </a:r>
          </a:p>
          <a:p>
            <a:pPr lvl="0" algn="just"/>
            <a:r>
              <a:rPr lang="en-IN" sz="2400" dirty="0">
                <a:latin typeface="Times New Roman" panose="02020603050405020304" pitchFamily="18" charset="0"/>
                <a:cs typeface="Times New Roman" panose="02020603050405020304" pitchFamily="18" charset="0"/>
              </a:rPr>
              <a:t>Display network traffic and reconstruction errors. </a:t>
            </a:r>
          </a:p>
          <a:p>
            <a:pPr lvl="0" algn="just"/>
            <a:r>
              <a:rPr lang="en-IN" sz="2400" dirty="0">
                <a:latin typeface="Times New Roman" panose="02020603050405020304" pitchFamily="18" charset="0"/>
                <a:cs typeface="Times New Roman" panose="02020603050405020304" pitchFamily="18" charset="0"/>
              </a:rPr>
              <a:t>Show detected intrusions and alert information. </a:t>
            </a:r>
          </a:p>
          <a:p>
            <a:pPr lvl="0" algn="just"/>
            <a:r>
              <a:rPr lang="en-IN" sz="2400" dirty="0">
                <a:latin typeface="Times New Roman" panose="02020603050405020304" pitchFamily="18" charset="0"/>
                <a:cs typeface="Times New Roman" panose="02020603050405020304" pitchFamily="18" charset="0"/>
              </a:rPr>
              <a:t>Provide reports and performance metrics. </a:t>
            </a:r>
          </a:p>
          <a:p>
            <a:pPr lvl="0" algn="just"/>
            <a:r>
              <a:rPr lang="en-IN" sz="2400" dirty="0">
                <a:latin typeface="Times New Roman" panose="02020603050405020304" pitchFamily="18" charset="0"/>
                <a:cs typeface="Times New Roman" panose="02020603050405020304" pitchFamily="18" charset="0"/>
              </a:rPr>
              <a:t>Deploy the frontend using GitHub Pages. </a:t>
            </a:r>
          </a:p>
          <a:p>
            <a:pPr lvl="0" algn="just"/>
            <a:r>
              <a:rPr lang="en-IN" sz="2400" dirty="0">
                <a:latin typeface="Times New Roman" panose="02020603050405020304" pitchFamily="18" charset="0"/>
                <a:cs typeface="Times New Roman" panose="02020603050405020304" pitchFamily="18" charset="0"/>
              </a:rPr>
              <a:t>Deploy the backend using Render. </a:t>
            </a:r>
          </a:p>
          <a:p>
            <a:pPr marL="0" indent="0" algn="just">
              <a:buNone/>
            </a:pPr>
            <a:r>
              <a:rPr lang="en-IN" sz="2400" b="1" dirty="0">
                <a:latin typeface="Times New Roman" panose="02020603050405020304" pitchFamily="18" charset="0"/>
                <a:cs typeface="Times New Roman" panose="02020603050405020304" pitchFamily="18" charset="0"/>
              </a:rPr>
              <a:t>Output: </a:t>
            </a:r>
            <a:r>
              <a:rPr lang="en-IN" sz="2400" dirty="0">
                <a:latin typeface="Times New Roman" panose="02020603050405020304" pitchFamily="18" charset="0"/>
                <a:cs typeface="Times New Roman" panose="02020603050405020304" pitchFamily="18" charset="0"/>
              </a:rPr>
              <a:t>A web-based Network Intrusion Detection System for real-time monitoring.</a:t>
            </a:r>
          </a:p>
        </p:txBody>
      </p:sp>
      <p:pic>
        <p:nvPicPr>
          <p:cNvPr id="4" name="Picture 3">
            <a:extLst>
              <a:ext uri="{FF2B5EF4-FFF2-40B4-BE49-F238E27FC236}">
                <a16:creationId xmlns:a16="http://schemas.microsoft.com/office/drawing/2014/main" id="{6D77249F-2EF8-DC35-2C0D-A49FCEF1326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778E5D06-1E32-9552-5BE9-1E3A42A1F87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6" name="TextBox 5">
            <a:extLst>
              <a:ext uri="{FF2B5EF4-FFF2-40B4-BE49-F238E27FC236}">
                <a16:creationId xmlns:a16="http://schemas.microsoft.com/office/drawing/2014/main" id="{1669BD94-A2F2-8AA3-EC56-AA492E5A27CE}"/>
              </a:ext>
            </a:extLst>
          </p:cNvPr>
          <p:cNvSpPr txBox="1"/>
          <p:nvPr/>
        </p:nvSpPr>
        <p:spPr>
          <a:xfrm>
            <a:off x="556454" y="1107370"/>
            <a:ext cx="10893792" cy="504049"/>
          </a:xfrm>
          <a:prstGeom prst="rect">
            <a:avLst/>
          </a:prstGeom>
          <a:noFill/>
        </p:spPr>
        <p:txBody>
          <a:bodyPr wrap="square" rtlCol="0">
            <a:spAutoFit/>
          </a:bodyPr>
          <a:lstStyle/>
          <a:p>
            <a:pPr indent="269875" algn="ctr">
              <a:lnSpc>
                <a:spcPct val="120000"/>
              </a:lnSpc>
              <a:spcBef>
                <a:spcPts val="600"/>
              </a:spcBef>
            </a:pPr>
            <a:r>
              <a:rPr lang="en-IN" sz="2400" b="1" dirty="0">
                <a:latin typeface="Times New Roman" panose="02020603050405020304" pitchFamily="18" charset="0"/>
                <a:cs typeface="Times New Roman" panose="02020603050405020304" pitchFamily="18" charset="0"/>
              </a:rPr>
              <a:t>SYSTEM DEPLOYMENT AND VISUALIZATION</a:t>
            </a:r>
            <a:endParaRPr lang="en-GB"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9318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IMPLEMENTATION</a:t>
            </a:r>
          </a:p>
        </p:txBody>
      </p:sp>
      <p:pic>
        <p:nvPicPr>
          <p:cNvPr id="7" name="Content Placeholder 6">
            <a:extLst>
              <a:ext uri="{FF2B5EF4-FFF2-40B4-BE49-F238E27FC236}">
                <a16:creationId xmlns:a16="http://schemas.microsoft.com/office/drawing/2014/main" id="{020BAC84-E6F8-94AA-8755-87AF5CFF8FE7}"/>
              </a:ext>
            </a:extLst>
          </p:cNvPr>
          <p:cNvPicPr>
            <a:picLocks noGrp="1" noChangeAspect="1"/>
          </p:cNvPicPr>
          <p:nvPr>
            <p:ph idx="1"/>
          </p:nvPr>
        </p:nvPicPr>
        <p:blipFill>
          <a:blip r:embed="rId2"/>
          <a:stretch>
            <a:fillRect/>
          </a:stretch>
        </p:blipFill>
        <p:spPr>
          <a:xfrm>
            <a:off x="92070" y="1877025"/>
            <a:ext cx="6170707" cy="3460360"/>
          </a:xfrm>
          <a:prstGeom prst="rect">
            <a:avLst/>
          </a:prstGeom>
        </p:spPr>
      </p:pic>
      <p:pic>
        <p:nvPicPr>
          <p:cNvPr id="4" name="Picture 3"/>
          <p:cNvPicPr/>
          <p:nvPr/>
        </p:nvPicPr>
        <p:blipFill>
          <a:blip r:embed="rId3"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4">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9" name="Picture 8">
            <a:extLst>
              <a:ext uri="{FF2B5EF4-FFF2-40B4-BE49-F238E27FC236}">
                <a16:creationId xmlns:a16="http://schemas.microsoft.com/office/drawing/2014/main" id="{AD257B0C-E909-287E-ACBB-13177D606E2E}"/>
              </a:ext>
            </a:extLst>
          </p:cNvPr>
          <p:cNvPicPr>
            <a:picLocks noChangeAspect="1"/>
          </p:cNvPicPr>
          <p:nvPr/>
        </p:nvPicPr>
        <p:blipFill>
          <a:blip r:embed="rId5"/>
          <a:stretch>
            <a:fillRect/>
          </a:stretch>
        </p:blipFill>
        <p:spPr>
          <a:xfrm>
            <a:off x="6352594" y="2696039"/>
            <a:ext cx="5825454" cy="32648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6743C-7950-7CFE-EAE9-08F189F1E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DA089-0B93-19BB-5146-652865E23009}"/>
              </a:ext>
            </a:extLst>
          </p:cNvPr>
          <p:cNvSpPr>
            <a:spLocks noGrp="1"/>
          </p:cNvSpPr>
          <p:nvPr>
            <p:ph type="title"/>
          </p:nvPr>
        </p:nvSpPr>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IMPLEMENTATION</a:t>
            </a:r>
          </a:p>
        </p:txBody>
      </p:sp>
      <p:pic>
        <p:nvPicPr>
          <p:cNvPr id="7" name="Content Placeholder 6">
            <a:extLst>
              <a:ext uri="{FF2B5EF4-FFF2-40B4-BE49-F238E27FC236}">
                <a16:creationId xmlns:a16="http://schemas.microsoft.com/office/drawing/2014/main" id="{48B985BC-3CB9-F8FD-7827-ED74404F4CAE}"/>
              </a:ext>
            </a:extLst>
          </p:cNvPr>
          <p:cNvPicPr>
            <a:picLocks noGrp="1" noChangeAspect="1"/>
          </p:cNvPicPr>
          <p:nvPr>
            <p:ph idx="1"/>
          </p:nvPr>
        </p:nvPicPr>
        <p:blipFill>
          <a:blip r:embed="rId2"/>
          <a:stretch>
            <a:fillRect/>
          </a:stretch>
        </p:blipFill>
        <p:spPr>
          <a:xfrm>
            <a:off x="1999477" y="1730375"/>
            <a:ext cx="8051759" cy="4525963"/>
          </a:xfrm>
          <a:prstGeom prst="rect">
            <a:avLst/>
          </a:prstGeom>
        </p:spPr>
      </p:pic>
      <p:pic>
        <p:nvPicPr>
          <p:cNvPr id="4" name="Picture 3">
            <a:extLst>
              <a:ext uri="{FF2B5EF4-FFF2-40B4-BE49-F238E27FC236}">
                <a16:creationId xmlns:a16="http://schemas.microsoft.com/office/drawing/2014/main" id="{86269CCB-62F8-2E3E-9F89-3FA20F6B4DB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0ED68066-E544-EDF1-979D-B3BE02D1733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extLst>
      <p:ext uri="{BB962C8B-B14F-4D97-AF65-F5344CB8AC3E}">
        <p14:creationId xmlns:p14="http://schemas.microsoft.com/office/powerpoint/2010/main" val="878898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A2F7E-FCBE-26FD-99D2-1219361A4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D27C3-A9D1-F0A4-1E97-CF46335C8B9E}"/>
              </a:ext>
            </a:extLst>
          </p:cNvPr>
          <p:cNvSpPr>
            <a:spLocks noGrp="1"/>
          </p:cNvSpPr>
          <p:nvPr>
            <p:ph type="title"/>
          </p:nvPr>
        </p:nvSpPr>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RESULT &amp; DISCUSSION</a:t>
            </a:r>
          </a:p>
        </p:txBody>
      </p:sp>
      <p:sp>
        <p:nvSpPr>
          <p:cNvPr id="3" name="Content Placeholder 2">
            <a:extLst>
              <a:ext uri="{FF2B5EF4-FFF2-40B4-BE49-F238E27FC236}">
                <a16:creationId xmlns:a16="http://schemas.microsoft.com/office/drawing/2014/main" id="{F338DA00-E814-91D2-B7B0-611288121943}"/>
              </a:ext>
            </a:extLst>
          </p:cNvPr>
          <p:cNvSpPr>
            <a:spLocks noGrp="1"/>
          </p:cNvSpPr>
          <p:nvPr>
            <p:ph idx="1"/>
          </p:nvPr>
        </p:nvSpPr>
        <p:spPr>
          <a:xfrm>
            <a:off x="357352" y="1730830"/>
            <a:ext cx="11335657" cy="4525963"/>
          </a:xfrm>
        </p:spPr>
        <p:txBody>
          <a:bodyPr>
            <a:noAutofit/>
          </a:bodyPr>
          <a:lstStyle/>
          <a:p>
            <a:pPr lvl="0" algn="just"/>
            <a:r>
              <a:rPr lang="en-IN" sz="2400" dirty="0">
                <a:latin typeface="Times New Roman" panose="02020603050405020304" pitchFamily="18" charset="0"/>
                <a:cs typeface="Times New Roman" panose="02020603050405020304" pitchFamily="18" charset="0"/>
              </a:rPr>
              <a:t>The autoencoder successfully learned the patterns of normal network traffic from the NSL-KDD dataset. </a:t>
            </a:r>
          </a:p>
          <a:p>
            <a:pPr lvl="0" algn="just"/>
            <a:r>
              <a:rPr lang="en-IN" sz="2400" dirty="0">
                <a:latin typeface="Times New Roman" panose="02020603050405020304" pitchFamily="18" charset="0"/>
                <a:cs typeface="Times New Roman" panose="02020603050405020304" pitchFamily="18" charset="0"/>
              </a:rPr>
              <a:t>The model generated reconstruction error (MSE) values for network records, allowing normal and abnormal patterns to be distinguished. </a:t>
            </a:r>
          </a:p>
          <a:p>
            <a:pPr lvl="0" algn="just"/>
            <a:r>
              <a:rPr lang="en-IN" sz="2400" dirty="0">
                <a:latin typeface="Times New Roman" panose="02020603050405020304" pitchFamily="18" charset="0"/>
                <a:cs typeface="Times New Roman" panose="02020603050405020304" pitchFamily="18" charset="0"/>
              </a:rPr>
              <a:t>The anomaly threshold provided a decision boundary for identifying traffic with unusually high reconstruction errors. </a:t>
            </a:r>
          </a:p>
          <a:p>
            <a:pPr lvl="0" algn="just"/>
            <a:r>
              <a:rPr lang="en-IN" sz="2400" dirty="0">
                <a:latin typeface="Times New Roman" panose="02020603050405020304" pitchFamily="18" charset="0"/>
                <a:cs typeface="Times New Roman" panose="02020603050405020304" pitchFamily="18" charset="0"/>
              </a:rPr>
              <a:t>The web dashboard displayed the detected network activity through graphs, statistics, alerts, and model information, making the results easier to interpret. </a:t>
            </a:r>
          </a:p>
          <a:p>
            <a:pPr lvl="0" algn="just"/>
            <a:r>
              <a:rPr lang="en-IN" sz="2400" dirty="0">
                <a:latin typeface="Times New Roman" panose="02020603050405020304" pitchFamily="18" charset="0"/>
                <a:cs typeface="Times New Roman" panose="02020603050405020304" pitchFamily="18" charset="0"/>
              </a:rPr>
              <a:t>The Alerts Log and Reports presented important detection information such as severity, source and destination details, protocol, MSE, and detection time. </a:t>
            </a:r>
          </a:p>
          <a:p>
            <a:pPr lvl="0" algn="just"/>
            <a:r>
              <a:rPr lang="en-IN" sz="2400" dirty="0">
                <a:latin typeface="Times New Roman" panose="02020603050405020304" pitchFamily="18" charset="0"/>
                <a:cs typeface="Times New Roman" panose="02020603050405020304" pitchFamily="18" charset="0"/>
              </a:rPr>
              <a:t>The results indicate that combining autoencoder-based detection with a web-based monitoring system provides a practical approach for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network anomalies.</a:t>
            </a:r>
          </a:p>
        </p:txBody>
      </p:sp>
      <p:pic>
        <p:nvPicPr>
          <p:cNvPr id="4" name="Picture 3">
            <a:extLst>
              <a:ext uri="{FF2B5EF4-FFF2-40B4-BE49-F238E27FC236}">
                <a16:creationId xmlns:a16="http://schemas.microsoft.com/office/drawing/2014/main" id="{73B4785A-6DC7-2CE4-FEB1-CDFED8D8D25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92A7621E-ABF2-2A17-2F51-78A5C962E73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extLst>
      <p:ext uri="{BB962C8B-B14F-4D97-AF65-F5344CB8AC3E}">
        <p14:creationId xmlns:p14="http://schemas.microsoft.com/office/powerpoint/2010/main" val="163554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AA964-3EAA-4601-872C-C943B4D9F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078DB-AAD2-A415-6AF3-1509CCD7A654}"/>
              </a:ext>
            </a:extLst>
          </p:cNvPr>
          <p:cNvSpPr>
            <a:spLocks noGrp="1"/>
          </p:cNvSpPr>
          <p:nvPr>
            <p:ph type="title"/>
          </p:nvPr>
        </p:nvSpPr>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SDG GOLAS</a:t>
            </a:r>
          </a:p>
        </p:txBody>
      </p:sp>
      <p:sp>
        <p:nvSpPr>
          <p:cNvPr id="3" name="Content Placeholder 2">
            <a:extLst>
              <a:ext uri="{FF2B5EF4-FFF2-40B4-BE49-F238E27FC236}">
                <a16:creationId xmlns:a16="http://schemas.microsoft.com/office/drawing/2014/main" id="{BDC4B116-E1BD-943C-3403-462DFF66372F}"/>
              </a:ext>
            </a:extLst>
          </p:cNvPr>
          <p:cNvSpPr>
            <a:spLocks noGrp="1"/>
          </p:cNvSpPr>
          <p:nvPr>
            <p:ph idx="1"/>
          </p:nvPr>
        </p:nvSpPr>
        <p:spPr>
          <a:xfrm>
            <a:off x="357352" y="1730830"/>
            <a:ext cx="11335657" cy="4525963"/>
          </a:xfrm>
        </p:spPr>
        <p:txBody>
          <a:bodyPr>
            <a:noAutofit/>
          </a:bodyPr>
          <a:lstStyle/>
          <a:p>
            <a:pPr lvl="0" algn="just"/>
            <a:r>
              <a:rPr lang="en-IN" sz="2400" b="1" dirty="0">
                <a:latin typeface="Times New Roman" panose="02020603050405020304" pitchFamily="18" charset="0"/>
                <a:cs typeface="Times New Roman" panose="02020603050405020304" pitchFamily="18" charset="0"/>
              </a:rPr>
              <a:t>SDG 9 – Industry, Innovation and Infrastructure:</a:t>
            </a:r>
            <a:r>
              <a:rPr lang="en-IN" sz="2400" dirty="0">
                <a:latin typeface="Times New Roman" panose="02020603050405020304" pitchFamily="18" charset="0"/>
                <a:cs typeface="Times New Roman" panose="02020603050405020304" pitchFamily="18" charset="0"/>
              </a:rPr>
              <a:t> Uses deep learning and AI technology to develop an innovative network security system. </a:t>
            </a:r>
          </a:p>
          <a:p>
            <a:pPr lvl="0" algn="just"/>
            <a:r>
              <a:rPr lang="en-IN" sz="2400" b="1" dirty="0">
                <a:latin typeface="Times New Roman" panose="02020603050405020304" pitchFamily="18" charset="0"/>
                <a:cs typeface="Times New Roman" panose="02020603050405020304" pitchFamily="18" charset="0"/>
              </a:rPr>
              <a:t>SDG 16 – Peace, Justice and Strong Institutions:</a:t>
            </a:r>
            <a:r>
              <a:rPr lang="en-IN" sz="2400" dirty="0">
                <a:latin typeface="Times New Roman" panose="02020603050405020304" pitchFamily="18" charset="0"/>
                <a:cs typeface="Times New Roman" panose="02020603050405020304" pitchFamily="18" charset="0"/>
              </a:rPr>
              <a:t> Improves cybersecurity by detecting network threats and supporting secure digital infrastructure. </a:t>
            </a:r>
          </a:p>
          <a:p>
            <a:pPr lvl="0" algn="just"/>
            <a:r>
              <a:rPr lang="en-IN" sz="2400" b="1" dirty="0">
                <a:latin typeface="Times New Roman" panose="02020603050405020304" pitchFamily="18" charset="0"/>
                <a:cs typeface="Times New Roman" panose="02020603050405020304" pitchFamily="18" charset="0"/>
              </a:rPr>
              <a:t>SDG 8 – Decent Work and Economic Growth:</a:t>
            </a:r>
            <a:r>
              <a:rPr lang="en-IN" sz="2400" dirty="0">
                <a:latin typeface="Times New Roman" panose="02020603050405020304" pitchFamily="18" charset="0"/>
                <a:cs typeface="Times New Roman" panose="02020603050405020304" pitchFamily="18" charset="0"/>
              </a:rPr>
              <a:t> Helps organizations reduce the impact of cyberattacks and maintain reliable digital services. </a:t>
            </a:r>
          </a:p>
          <a:p>
            <a:pPr lvl="0" algn="just"/>
            <a:r>
              <a:rPr lang="en-IN" sz="2400" b="1" dirty="0">
                <a:latin typeface="Times New Roman" panose="02020603050405020304" pitchFamily="18" charset="0"/>
                <a:cs typeface="Times New Roman" panose="02020603050405020304" pitchFamily="18" charset="0"/>
              </a:rPr>
              <a:t>SDG 4 – Quality Education:</a:t>
            </a:r>
            <a:r>
              <a:rPr lang="en-IN" sz="2400" dirty="0">
                <a:latin typeface="Times New Roman" panose="02020603050405020304" pitchFamily="18" charset="0"/>
                <a:cs typeface="Times New Roman" panose="02020603050405020304" pitchFamily="18" charset="0"/>
              </a:rPr>
              <a:t> Demonstrates the practical application of machine learning and cybersecurity concepts for educational and research purposes. </a:t>
            </a:r>
          </a:p>
          <a:p>
            <a:pPr lvl="0" algn="just"/>
            <a:r>
              <a:rPr lang="en-IN" sz="2400" b="1" dirty="0">
                <a:latin typeface="Times New Roman" panose="02020603050405020304" pitchFamily="18" charset="0"/>
                <a:cs typeface="Times New Roman" panose="02020603050405020304" pitchFamily="18" charset="0"/>
              </a:rPr>
              <a:t>SDG 17 – Partnerships for the Goals:</a:t>
            </a:r>
            <a:r>
              <a:rPr lang="en-IN" sz="2400" dirty="0">
                <a:latin typeface="Times New Roman" panose="02020603050405020304" pitchFamily="18" charset="0"/>
                <a:cs typeface="Times New Roman" panose="02020603050405020304" pitchFamily="18" charset="0"/>
              </a:rPr>
              <a:t> Provides a technology framework that can support collaboration between cybersecurity teams, organizations, and technology platforms.</a:t>
            </a:r>
          </a:p>
        </p:txBody>
      </p:sp>
      <p:pic>
        <p:nvPicPr>
          <p:cNvPr id="4" name="Picture 3">
            <a:extLst>
              <a:ext uri="{FF2B5EF4-FFF2-40B4-BE49-F238E27FC236}">
                <a16:creationId xmlns:a16="http://schemas.microsoft.com/office/drawing/2014/main" id="{694BCC65-A740-D461-40AD-BF5443EB00D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C395F740-33F0-D0A8-66CD-44447B11856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extLst>
      <p:ext uri="{BB962C8B-B14F-4D97-AF65-F5344CB8AC3E}">
        <p14:creationId xmlns:p14="http://schemas.microsoft.com/office/powerpoint/2010/main" val="298251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22643-7CB8-1A2C-E47B-D2A437B57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E50A2-A650-884C-85F5-178AD354BED8}"/>
              </a:ext>
            </a:extLst>
          </p:cNvPr>
          <p:cNvSpPr>
            <a:spLocks noGrp="1"/>
          </p:cNvSpPr>
          <p:nvPr>
            <p:ph type="title"/>
          </p:nvPr>
        </p:nvSpPr>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BD655D8-BF8E-465B-9D4C-2EC30DB05C50}"/>
              </a:ext>
            </a:extLst>
          </p:cNvPr>
          <p:cNvSpPr>
            <a:spLocks noGrp="1"/>
          </p:cNvSpPr>
          <p:nvPr>
            <p:ph idx="1"/>
          </p:nvPr>
        </p:nvSpPr>
        <p:spPr>
          <a:xfrm>
            <a:off x="357352" y="1730830"/>
            <a:ext cx="11335657" cy="4525963"/>
          </a:xfrm>
        </p:spPr>
        <p:txBody>
          <a:bodyPr>
            <a:noAutofit/>
          </a:bodyPr>
          <a:lstStyle/>
          <a:p>
            <a:pPr lvl="0" algn="just"/>
            <a:r>
              <a:rPr lang="en-IN" sz="2400" dirty="0">
                <a:latin typeface="Times New Roman" panose="02020603050405020304" pitchFamily="18" charset="0"/>
                <a:cs typeface="Times New Roman" panose="02020603050405020304" pitchFamily="18" charset="0"/>
              </a:rPr>
              <a:t>The project successfully developed, an integrated framework for detecting network intrusions using deep learning. </a:t>
            </a:r>
          </a:p>
          <a:p>
            <a:pPr lvl="0" algn="just"/>
            <a:r>
              <a:rPr lang="en-IN" sz="2400" dirty="0">
                <a:latin typeface="Times New Roman" panose="02020603050405020304" pitchFamily="18" charset="0"/>
                <a:cs typeface="Times New Roman" panose="02020603050405020304" pitchFamily="18" charset="0"/>
              </a:rPr>
              <a:t>The proposed system provides a complete workflow from data preprocessing and model training to anomaly detection and security monitoring. </a:t>
            </a:r>
          </a:p>
          <a:p>
            <a:pPr lvl="0" algn="just"/>
            <a:r>
              <a:rPr lang="en-IN" sz="2400" dirty="0">
                <a:latin typeface="Times New Roman" panose="02020603050405020304" pitchFamily="18" charset="0"/>
                <a:cs typeface="Times New Roman" panose="02020603050405020304" pitchFamily="18" charset="0"/>
              </a:rPr>
              <a:t>The system reduces the need for manual analysis by automatically identifying traffic that differs significantly from learned normal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The modular architecture allows the system to be maintained, retrained, and extended with additional datasets and detection techniques. </a:t>
            </a:r>
          </a:p>
          <a:p>
            <a:pPr lvl="0" algn="just"/>
            <a:r>
              <a:rPr lang="en-IN" sz="2400" dirty="0">
                <a:latin typeface="Times New Roman" panose="02020603050405020304" pitchFamily="18" charset="0"/>
                <a:cs typeface="Times New Roman" panose="02020603050405020304" pitchFamily="18" charset="0"/>
              </a:rPr>
              <a:t>The project provides a strong foundation for future integration with real-time network traffic, packet capture, and enterprise security infrastructure. </a:t>
            </a:r>
          </a:p>
          <a:p>
            <a:pPr lvl="0" algn="just"/>
            <a:r>
              <a:rPr lang="en-IN" sz="2400" dirty="0" err="1">
                <a:latin typeface="Times New Roman" panose="02020603050405020304" pitchFamily="18" charset="0"/>
                <a:cs typeface="Times New Roman" panose="02020603050405020304" pitchFamily="18" charset="0"/>
              </a:rPr>
              <a:t>Overall,demonstrates</a:t>
            </a:r>
            <a:r>
              <a:rPr lang="en-IN" sz="2400" dirty="0">
                <a:latin typeface="Times New Roman" panose="02020603050405020304" pitchFamily="18" charset="0"/>
                <a:cs typeface="Times New Roman" panose="02020603050405020304" pitchFamily="18" charset="0"/>
              </a:rPr>
              <a:t> the potential of deep learning-based anomaly detection as an effective cybersecurity solution.</a:t>
            </a:r>
          </a:p>
        </p:txBody>
      </p:sp>
      <p:pic>
        <p:nvPicPr>
          <p:cNvPr id="4" name="Picture 3">
            <a:extLst>
              <a:ext uri="{FF2B5EF4-FFF2-40B4-BE49-F238E27FC236}">
                <a16:creationId xmlns:a16="http://schemas.microsoft.com/office/drawing/2014/main" id="{327043F7-D9C9-1C84-7E3B-12562BB9749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21DAD837-FD8E-93FA-9430-61EEE97B272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extLst>
      <p:ext uri="{BB962C8B-B14F-4D97-AF65-F5344CB8AC3E}">
        <p14:creationId xmlns:p14="http://schemas.microsoft.com/office/powerpoint/2010/main" val="1429866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0E83A-27A5-D760-E9A6-2805884BF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73664-9AF7-9A42-0EA3-9B8003EEA29A}"/>
              </a:ext>
            </a:extLst>
          </p:cNvPr>
          <p:cNvSpPr>
            <a:spLocks noGrp="1"/>
          </p:cNvSpPr>
          <p:nvPr>
            <p:ph type="title"/>
          </p:nvPr>
        </p:nvSpPr>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3C622404-E06C-4E8A-F2FF-98A49AA184BD}"/>
              </a:ext>
            </a:extLst>
          </p:cNvPr>
          <p:cNvSpPr>
            <a:spLocks noGrp="1"/>
          </p:cNvSpPr>
          <p:nvPr>
            <p:ph idx="1"/>
          </p:nvPr>
        </p:nvSpPr>
        <p:spPr>
          <a:xfrm>
            <a:off x="357352" y="1730830"/>
            <a:ext cx="11335657" cy="4525963"/>
          </a:xfrm>
        </p:spPr>
        <p:txBody>
          <a:bodyPr>
            <a:noAutofit/>
          </a:bodyPr>
          <a:lstStyle/>
          <a:p>
            <a:pPr lvl="0" algn="just"/>
            <a:r>
              <a:rPr lang="en-IN" sz="2400" b="1" dirty="0">
                <a:latin typeface="Times New Roman" panose="02020603050405020304" pitchFamily="18" charset="0"/>
                <a:cs typeface="Times New Roman" panose="02020603050405020304" pitchFamily="18" charset="0"/>
              </a:rPr>
              <a:t>Real-Time Network Monitoring:</a:t>
            </a:r>
            <a:r>
              <a:rPr lang="en-IN" sz="2400" dirty="0">
                <a:latin typeface="Times New Roman" panose="02020603050405020304" pitchFamily="18" charset="0"/>
                <a:cs typeface="Times New Roman" panose="02020603050405020304" pitchFamily="18" charset="0"/>
              </a:rPr>
              <a:t> Integrate live packet capture and network traffic monitoring for continuous intrusion detection. </a:t>
            </a:r>
          </a:p>
          <a:p>
            <a:pPr lvl="0" algn="just"/>
            <a:r>
              <a:rPr lang="en-IN" sz="2400" b="1" dirty="0">
                <a:latin typeface="Times New Roman" panose="02020603050405020304" pitchFamily="18" charset="0"/>
                <a:cs typeface="Times New Roman" panose="02020603050405020304" pitchFamily="18" charset="0"/>
              </a:rPr>
              <a:t>Advanced Deep Learning Models:</a:t>
            </a:r>
            <a:r>
              <a:rPr lang="en-IN" sz="2400" dirty="0">
                <a:latin typeface="Times New Roman" panose="02020603050405020304" pitchFamily="18" charset="0"/>
                <a:cs typeface="Times New Roman" panose="02020603050405020304" pitchFamily="18" charset="0"/>
              </a:rPr>
              <a:t> Extend the system using LSTM, CNN, Transformer, or hybrid models to improve detection performance. </a:t>
            </a:r>
          </a:p>
          <a:p>
            <a:pPr lvl="0" algn="just"/>
            <a:r>
              <a:rPr lang="en-IN" sz="2400" b="1" dirty="0">
                <a:latin typeface="Times New Roman" panose="02020603050405020304" pitchFamily="18" charset="0"/>
                <a:cs typeface="Times New Roman" panose="02020603050405020304" pitchFamily="18" charset="0"/>
              </a:rPr>
              <a:t>Larger and Updated Datasets:</a:t>
            </a:r>
            <a:r>
              <a:rPr lang="en-IN" sz="2400" dirty="0">
                <a:latin typeface="Times New Roman" panose="02020603050405020304" pitchFamily="18" charset="0"/>
                <a:cs typeface="Times New Roman" panose="02020603050405020304" pitchFamily="18" charset="0"/>
              </a:rPr>
              <a:t> Train the model using modern cybersecurity datasets containing current attack patterns. </a:t>
            </a:r>
          </a:p>
          <a:p>
            <a:pPr lvl="0" algn="just"/>
            <a:r>
              <a:rPr lang="en-IN" sz="2400" b="1" dirty="0">
                <a:latin typeface="Times New Roman" panose="02020603050405020304" pitchFamily="18" charset="0"/>
                <a:cs typeface="Times New Roman" panose="02020603050405020304" pitchFamily="18" charset="0"/>
              </a:rPr>
              <a:t>Automated Threat Response:</a:t>
            </a:r>
            <a:r>
              <a:rPr lang="en-IN" sz="2400" dirty="0">
                <a:latin typeface="Times New Roman" panose="02020603050405020304" pitchFamily="18" charset="0"/>
                <a:cs typeface="Times New Roman" panose="02020603050405020304" pitchFamily="18" charset="0"/>
              </a:rPr>
              <a:t> Add automatic actions such as blocking suspicious IP addresses and generating security notifications. </a:t>
            </a:r>
          </a:p>
          <a:p>
            <a:pPr lvl="0" algn="just"/>
            <a:r>
              <a:rPr lang="en-IN" sz="2400" b="1" dirty="0">
                <a:latin typeface="Times New Roman" panose="02020603050405020304" pitchFamily="18" charset="0"/>
                <a:cs typeface="Times New Roman" panose="02020603050405020304" pitchFamily="18" charset="0"/>
              </a:rPr>
              <a:t>Cloud and Enterprise Integration:</a:t>
            </a:r>
            <a:r>
              <a:rPr lang="en-IN" sz="2400" dirty="0">
                <a:latin typeface="Times New Roman" panose="02020603050405020304" pitchFamily="18" charset="0"/>
                <a:cs typeface="Times New Roman" panose="02020603050405020304" pitchFamily="18" charset="0"/>
              </a:rPr>
              <a:t> Deploy the system with cloud infrastructure and integrate it with SIEM and other security platforms. </a:t>
            </a:r>
          </a:p>
          <a:p>
            <a:pPr lvl="0" algn="just"/>
            <a:r>
              <a:rPr lang="en-IN" sz="2400" b="1" dirty="0">
                <a:latin typeface="Times New Roman" panose="02020603050405020304" pitchFamily="18" charset="0"/>
                <a:cs typeface="Times New Roman" panose="02020603050405020304" pitchFamily="18" charset="0"/>
              </a:rPr>
              <a:t>Continuous Model Learning:</a:t>
            </a:r>
            <a:r>
              <a:rPr lang="en-IN" sz="2400" dirty="0">
                <a:latin typeface="Times New Roman" panose="02020603050405020304" pitchFamily="18" charset="0"/>
                <a:cs typeface="Times New Roman" panose="02020603050405020304" pitchFamily="18" charset="0"/>
              </a:rPr>
              <a:t> Implement periodic retraining and adaptive learning so the model can recognize newly emerging attack patterns.</a:t>
            </a:r>
          </a:p>
        </p:txBody>
      </p:sp>
      <p:pic>
        <p:nvPicPr>
          <p:cNvPr id="4" name="Picture 3">
            <a:extLst>
              <a:ext uri="{FF2B5EF4-FFF2-40B4-BE49-F238E27FC236}">
                <a16:creationId xmlns:a16="http://schemas.microsoft.com/office/drawing/2014/main" id="{1D73524E-9273-92A1-6C5E-2812A7C9F1E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F0E5FC85-0EBB-A2D2-180F-F9D940E753E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extLst>
      <p:ext uri="{BB962C8B-B14F-4D97-AF65-F5344CB8AC3E}">
        <p14:creationId xmlns:p14="http://schemas.microsoft.com/office/powerpoint/2010/main" val="2577238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B35D4-2B8F-1324-0207-767E7A101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34C31-1FBA-D323-32B3-22E74E7A850D}"/>
              </a:ext>
            </a:extLst>
          </p:cNvPr>
          <p:cNvSpPr>
            <a:spLocks noGrp="1"/>
          </p:cNvSpPr>
          <p:nvPr>
            <p:ph type="title"/>
          </p:nvPr>
        </p:nvSpPr>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3DEFEBA3-AF2B-27E6-4230-E7B11BE8BE11}"/>
              </a:ext>
            </a:extLst>
          </p:cNvPr>
          <p:cNvSpPr>
            <a:spLocks noGrp="1"/>
          </p:cNvSpPr>
          <p:nvPr>
            <p:ph idx="1"/>
          </p:nvPr>
        </p:nvSpPr>
        <p:spPr>
          <a:xfrm>
            <a:off x="357352" y="1730830"/>
            <a:ext cx="11335657" cy="4525963"/>
          </a:xfrm>
        </p:spPr>
        <p:txBody>
          <a:bodyPr>
            <a:noAutofit/>
          </a:bodyPr>
          <a:lstStyle/>
          <a:p>
            <a:pPr algn="just">
              <a:buFont typeface="+mj-lt"/>
              <a:buAutoNum type="arabicPeriod"/>
            </a:pPr>
            <a:r>
              <a:rPr lang="en-IN" sz="1800" dirty="0">
                <a:latin typeface="Times New Roman" panose="02020603050405020304" pitchFamily="18" charset="0"/>
                <a:cs typeface="Times New Roman" panose="02020603050405020304" pitchFamily="18" charset="0"/>
              </a:rPr>
              <a:t>G. E. Hinton and R. R. </a:t>
            </a:r>
            <a:r>
              <a:rPr lang="en-IN" sz="1800" dirty="0" err="1">
                <a:latin typeface="Times New Roman" panose="02020603050405020304" pitchFamily="18" charset="0"/>
                <a:cs typeface="Times New Roman" panose="02020603050405020304" pitchFamily="18" charset="0"/>
              </a:rPr>
              <a:t>Salakhutdinov</a:t>
            </a:r>
            <a:r>
              <a:rPr lang="en-IN" sz="1800" dirty="0">
                <a:latin typeface="Times New Roman" panose="02020603050405020304" pitchFamily="18" charset="0"/>
                <a:cs typeface="Times New Roman" panose="02020603050405020304" pitchFamily="18" charset="0"/>
              </a:rPr>
              <a:t>, “Reducing the Dimensionality of Data with Neural Networks,” </a:t>
            </a:r>
            <a:r>
              <a:rPr lang="en-IN" sz="1800" i="1" dirty="0">
                <a:latin typeface="Times New Roman" panose="02020603050405020304" pitchFamily="18" charset="0"/>
                <a:cs typeface="Times New Roman" panose="02020603050405020304" pitchFamily="18" charset="0"/>
              </a:rPr>
              <a:t>Science</a:t>
            </a:r>
            <a:r>
              <a:rPr lang="en-IN" sz="1800" dirty="0">
                <a:latin typeface="Times New Roman" panose="02020603050405020304" pitchFamily="18" charset="0"/>
                <a:cs typeface="Times New Roman" panose="02020603050405020304" pitchFamily="18" charset="0"/>
              </a:rPr>
              <a:t>, vol. 313, no. 5786, pp. 504–507, 2006. </a:t>
            </a:r>
          </a:p>
          <a:p>
            <a:pPr algn="just">
              <a:buFont typeface="+mj-lt"/>
              <a:buAutoNum type="arabicPeriod"/>
            </a:pPr>
            <a:r>
              <a:rPr lang="en-IN" sz="1800" dirty="0">
                <a:latin typeface="Times New Roman" panose="02020603050405020304" pitchFamily="18" charset="0"/>
                <a:cs typeface="Times New Roman" panose="02020603050405020304" pitchFamily="18" charset="0"/>
              </a:rPr>
              <a:t>Y. LeCun, Y. Bengio, and G. Hinton, “Deep Learning,” </a:t>
            </a:r>
            <a:r>
              <a:rPr lang="en-IN" sz="1800" i="1" dirty="0">
                <a:latin typeface="Times New Roman" panose="02020603050405020304" pitchFamily="18" charset="0"/>
                <a:cs typeface="Times New Roman" panose="02020603050405020304" pitchFamily="18" charset="0"/>
              </a:rPr>
              <a:t>Nature</a:t>
            </a:r>
            <a:r>
              <a:rPr lang="en-IN" sz="1800" dirty="0">
                <a:latin typeface="Times New Roman" panose="02020603050405020304" pitchFamily="18" charset="0"/>
                <a:cs typeface="Times New Roman" panose="02020603050405020304" pitchFamily="18" charset="0"/>
              </a:rPr>
              <a:t>, vol. 521, no. 7553, pp. 436–444, 2015. </a:t>
            </a:r>
          </a:p>
          <a:p>
            <a:pPr algn="just">
              <a:buFont typeface="+mj-lt"/>
              <a:buAutoNum type="arabicPeriod"/>
            </a:pPr>
            <a:r>
              <a:rPr lang="en-IN" sz="1800" dirty="0">
                <a:latin typeface="Times New Roman" panose="02020603050405020304" pitchFamily="18" charset="0"/>
                <a:cs typeface="Times New Roman" panose="02020603050405020304" pitchFamily="18" charset="0"/>
              </a:rPr>
              <a:t>M. </a:t>
            </a:r>
            <a:r>
              <a:rPr lang="en-IN" sz="1800" dirty="0" err="1">
                <a:latin typeface="Times New Roman" panose="02020603050405020304" pitchFamily="18" charset="0"/>
                <a:cs typeface="Times New Roman" panose="02020603050405020304" pitchFamily="18" charset="0"/>
              </a:rPr>
              <a:t>Tavallaee</a:t>
            </a:r>
            <a:r>
              <a:rPr lang="en-IN" sz="1800" dirty="0">
                <a:latin typeface="Times New Roman" panose="02020603050405020304" pitchFamily="18" charset="0"/>
                <a:cs typeface="Times New Roman" panose="02020603050405020304" pitchFamily="18" charset="0"/>
              </a:rPr>
              <a:t>, E. Bagheri, W. Lu, and A. A. Ghorbani, “A Detailed Analysis of the KDD CUP 99 Data Set,” </a:t>
            </a:r>
            <a:r>
              <a:rPr lang="en-IN" sz="1800" i="1" dirty="0">
                <a:latin typeface="Times New Roman" panose="02020603050405020304" pitchFamily="18" charset="0"/>
                <a:cs typeface="Times New Roman" panose="02020603050405020304" pitchFamily="18" charset="0"/>
              </a:rPr>
              <a:t>Proceedings of the IEEE Symposium on Computational Intelligence for Security and </a:t>
            </a:r>
            <a:r>
              <a:rPr lang="en-IN" sz="1800" i="1" dirty="0" err="1">
                <a:latin typeface="Times New Roman" panose="02020603050405020304" pitchFamily="18" charset="0"/>
                <a:cs typeface="Times New Roman" panose="02020603050405020304" pitchFamily="18" charset="0"/>
              </a:rPr>
              <a:t>Defense</a:t>
            </a:r>
            <a:r>
              <a:rPr lang="en-IN" sz="1800" i="1" dirty="0">
                <a:latin typeface="Times New Roman" panose="02020603050405020304" pitchFamily="18" charset="0"/>
                <a:cs typeface="Times New Roman" panose="02020603050405020304" pitchFamily="18" charset="0"/>
              </a:rPr>
              <a:t> Applications (CISDA)</a:t>
            </a:r>
            <a:r>
              <a:rPr lang="en-IN" sz="1800" dirty="0">
                <a:latin typeface="Times New Roman" panose="02020603050405020304" pitchFamily="18" charset="0"/>
                <a:cs typeface="Times New Roman" panose="02020603050405020304" pitchFamily="18" charset="0"/>
              </a:rPr>
              <a:t>, 2009. </a:t>
            </a:r>
          </a:p>
          <a:p>
            <a:pPr algn="just">
              <a:buFont typeface="+mj-lt"/>
              <a:buAutoNum type="arabicPeriod"/>
            </a:pPr>
            <a:r>
              <a:rPr lang="en-IN" sz="1800" dirty="0">
                <a:latin typeface="Times New Roman" panose="02020603050405020304" pitchFamily="18" charset="0"/>
                <a:cs typeface="Times New Roman" panose="02020603050405020304" pitchFamily="18" charset="0"/>
              </a:rPr>
              <a:t>I. </a:t>
            </a:r>
            <a:r>
              <a:rPr lang="en-IN" sz="1800" dirty="0" err="1">
                <a:latin typeface="Times New Roman" panose="02020603050405020304" pitchFamily="18" charset="0"/>
                <a:cs typeface="Times New Roman" panose="02020603050405020304" pitchFamily="18" charset="0"/>
              </a:rPr>
              <a:t>Sharafaldin</a:t>
            </a:r>
            <a:r>
              <a:rPr lang="en-IN" sz="1800" dirty="0">
                <a:latin typeface="Times New Roman" panose="02020603050405020304" pitchFamily="18" charset="0"/>
                <a:cs typeface="Times New Roman" panose="02020603050405020304" pitchFamily="18" charset="0"/>
              </a:rPr>
              <a:t>, A. H. Lashkari, and A. A. Ghorbani, “Toward Generating a New Intrusion Detection Dataset and Intrusion Traffic Characterization,” </a:t>
            </a:r>
            <a:r>
              <a:rPr lang="en-IN" sz="1800" i="1" dirty="0">
                <a:latin typeface="Times New Roman" panose="02020603050405020304" pitchFamily="18" charset="0"/>
                <a:cs typeface="Times New Roman" panose="02020603050405020304" pitchFamily="18" charset="0"/>
              </a:rPr>
              <a:t>Proceedings of ICISSP</a:t>
            </a:r>
            <a:r>
              <a:rPr lang="en-IN" sz="1800" dirty="0">
                <a:latin typeface="Times New Roman" panose="02020603050405020304" pitchFamily="18" charset="0"/>
                <a:cs typeface="Times New Roman" panose="02020603050405020304" pitchFamily="18" charset="0"/>
              </a:rPr>
              <a:t>, pp. 108–116, 2018. </a:t>
            </a:r>
          </a:p>
          <a:p>
            <a:pPr algn="just">
              <a:buFont typeface="+mj-lt"/>
              <a:buAutoNum type="arabicPeriod"/>
            </a:pPr>
            <a:r>
              <a:rPr lang="en-IN" sz="1800" dirty="0">
                <a:latin typeface="Times New Roman" panose="02020603050405020304" pitchFamily="18" charset="0"/>
                <a:cs typeface="Times New Roman" panose="02020603050405020304" pitchFamily="18" charset="0"/>
              </a:rPr>
              <a:t>A. H. Lashkari, G. D. Gil, M. S. I. Mamun, and A. A. Ghorbani, “Characterization of Tor Traffic Using Time-Based Features,” </a:t>
            </a:r>
            <a:r>
              <a:rPr lang="en-IN" sz="1800" i="1" dirty="0">
                <a:latin typeface="Times New Roman" panose="02020603050405020304" pitchFamily="18" charset="0"/>
                <a:cs typeface="Times New Roman" panose="02020603050405020304" pitchFamily="18" charset="0"/>
              </a:rPr>
              <a:t>Proceedings of ICISSP</a:t>
            </a:r>
            <a:r>
              <a:rPr lang="en-IN" sz="1800" dirty="0">
                <a:latin typeface="Times New Roman" panose="02020603050405020304" pitchFamily="18" charset="0"/>
                <a:cs typeface="Times New Roman" panose="02020603050405020304" pitchFamily="18" charset="0"/>
              </a:rPr>
              <a:t>, 2017. </a:t>
            </a:r>
          </a:p>
          <a:p>
            <a:pPr algn="just">
              <a:buFont typeface="+mj-lt"/>
              <a:buAutoNum type="arabicPeriod"/>
            </a:pPr>
            <a:r>
              <a:rPr lang="en-IN" sz="1800" dirty="0">
                <a:latin typeface="Times New Roman" panose="02020603050405020304" pitchFamily="18" charset="0"/>
                <a:cs typeface="Times New Roman" panose="02020603050405020304" pitchFamily="18" charset="0"/>
              </a:rPr>
              <a:t>J. An and S. Cho, “Variational Autoencoder Based Anomaly Detection Using Reconstruction Probability,” </a:t>
            </a:r>
            <a:r>
              <a:rPr lang="en-IN" sz="1800" i="1" dirty="0">
                <a:latin typeface="Times New Roman" panose="02020603050405020304" pitchFamily="18" charset="0"/>
                <a:cs typeface="Times New Roman" panose="02020603050405020304" pitchFamily="18" charset="0"/>
              </a:rPr>
              <a:t>Special Lecture on IE</a:t>
            </a:r>
            <a:r>
              <a:rPr lang="en-IN" sz="1800" dirty="0">
                <a:latin typeface="Times New Roman" panose="02020603050405020304" pitchFamily="18" charset="0"/>
                <a:cs typeface="Times New Roman" panose="02020603050405020304" pitchFamily="18" charset="0"/>
              </a:rPr>
              <a:t>, vol. 2, no. 1, 2015. </a:t>
            </a:r>
          </a:p>
          <a:p>
            <a:pPr algn="just">
              <a:buFont typeface="+mj-lt"/>
              <a:buAutoNum type="arabicPeriod"/>
            </a:pPr>
            <a:r>
              <a:rPr lang="en-IN" sz="1800" dirty="0">
                <a:latin typeface="Times New Roman" panose="02020603050405020304" pitchFamily="18" charset="0"/>
                <a:cs typeface="Times New Roman" panose="02020603050405020304" pitchFamily="18" charset="0"/>
              </a:rPr>
              <a:t>T. N. Kipf and M. Welling, “Semi-Supervised Classification with Graph Convolutional Networks,” </a:t>
            </a:r>
            <a:r>
              <a:rPr lang="en-IN" sz="1800" i="1" dirty="0" err="1">
                <a:latin typeface="Times New Roman" panose="02020603050405020304" pitchFamily="18" charset="0"/>
                <a:cs typeface="Times New Roman" panose="02020603050405020304" pitchFamily="18" charset="0"/>
              </a:rPr>
              <a:t>arXiv</a:t>
            </a:r>
            <a:r>
              <a:rPr lang="en-IN" sz="1800" i="1" dirty="0">
                <a:latin typeface="Times New Roman" panose="02020603050405020304" pitchFamily="18" charset="0"/>
                <a:cs typeface="Times New Roman" panose="02020603050405020304" pitchFamily="18" charset="0"/>
              </a:rPr>
              <a:t> preprint arXiv:1609.02907</a:t>
            </a:r>
            <a:r>
              <a:rPr lang="en-IN" sz="1800" dirty="0">
                <a:latin typeface="Times New Roman" panose="02020603050405020304" pitchFamily="18" charset="0"/>
                <a:cs typeface="Times New Roman" panose="02020603050405020304" pitchFamily="18" charset="0"/>
              </a:rPr>
              <a:t>, 2017.</a:t>
            </a:r>
            <a:endParaRPr lang="en-AU"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32BE0CC-BBE3-F189-C9C3-8AE3241D731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83EE1F7F-4C24-AD62-46DC-2EA69BC4E1A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extLst>
      <p:ext uri="{BB962C8B-B14F-4D97-AF65-F5344CB8AC3E}">
        <p14:creationId xmlns:p14="http://schemas.microsoft.com/office/powerpoint/2010/main" val="1932241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23949"/>
            <a:ext cx="10972800" cy="1143000"/>
          </a:xfrm>
        </p:spPr>
        <p:txBody>
          <a:bodyPr>
            <a:normAutofit/>
          </a:bodyPr>
          <a:lstStyle/>
          <a:p>
            <a:r>
              <a:rPr sz="6600" dirty="0">
                <a:latin typeface="Arial Rounded MT Bold" panose="020F0704030504030204" pitchFamily="3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879</TotalTime>
  <Words>1546</Words>
  <Application>Microsoft Office PowerPoint</Application>
  <PresentationFormat>Widescreen</PresentationFormat>
  <Paragraphs>153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Rounded MT Bold</vt:lpstr>
      <vt:lpstr>Calibri</vt:lpstr>
      <vt:lpstr>Times New Roman</vt:lpstr>
      <vt:lpstr>Office Theme</vt:lpstr>
      <vt:lpstr>Autoencoder-Based Deep Learning Framework for Network Intrusion and Anomaly Detection</vt:lpstr>
      <vt:lpstr>ABSTRACT</vt:lpstr>
      <vt:lpstr>PROBLEM STATEMENT</vt:lpstr>
      <vt:lpstr>EXISTING SYSTEM &amp; PROPOSED SOLUTION</vt:lpstr>
      <vt:lpstr>LITERATURE REVIEW</vt:lpstr>
      <vt:lpstr>TECHNOLOGIES USED</vt:lpstr>
      <vt:lpstr>ARCHITECTURE DIAGRAM</vt:lpstr>
      <vt:lpstr>Module 1</vt:lpstr>
      <vt:lpstr>Module 2</vt:lpstr>
      <vt:lpstr>Module 3</vt:lpstr>
      <vt:lpstr>Module 4</vt:lpstr>
      <vt:lpstr>IMPLEMENTATION</vt:lpstr>
      <vt:lpstr>IMPLEMENTATION</vt:lpstr>
      <vt:lpstr>RESULT &amp; DISCUSSION</vt:lpstr>
      <vt:lpstr>SDG GOLAS</vt:lpstr>
      <vt:lpstr>CONCLUSION</vt:lpstr>
      <vt:lpstr>FUTURE SCOPE</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subject/>
  <dc:creator>sankar</dc:creator>
  <cp:keywords/>
  <dc:description>generated using python-pptx</dc:description>
  <cp:lastModifiedBy>Haresh kumar</cp:lastModifiedBy>
  <cp:revision>49</cp:revision>
  <dcterms:created xsi:type="dcterms:W3CDTF">2013-01-27T09:14:16Z</dcterms:created>
  <dcterms:modified xsi:type="dcterms:W3CDTF">2026-08-31T14:48:24Z</dcterms:modified>
  <cp:category/>
</cp:coreProperties>
</file>